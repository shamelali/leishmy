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62BFBA-2275-462A-8624-8D492E8371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9D2273-9A2A-4665-A492-E76E39317B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F550B70-08A8-49E0-8A6D-B6DDAFB371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B7C4453-DC5B-48A9-B0A9-C9A8E2E2FD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EE1E294-A660-4482-A0BE-C854911FF4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10297F4-7731-47D6-9176-F86ED00F40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716A521-D19D-40E5-AF73-11F7DBD421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A5E3BB2-AE7D-4E9C-B823-43CA7FC008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1C8A9C5-A058-4ECE-8F4C-29065C33C7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1FD4073-6B7E-46BB-8947-C2A59E2C79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AC1FAF4-763E-473E-9214-ACF196E120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DDE6D7-E71F-41D6-B638-BDF12E3483C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6DE101-BC52-4C03-8CBD-E1FD1548BF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B33603-006B-49CB-9C4C-7BBE7CE5F93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350C7D-CB05-4632-8B18-BE5C4500F7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to 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Master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C6433F-3176-4ABC-ACED-D7A2FD8539C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8657DA-2A21-4985-94FE-1799736F2F6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022101-94D6-4757-AA04-4BB66BB99E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6DE730-8E34-4B67-A2AF-7DBFFEFF83B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E65405-377C-4A89-97C9-20D2E2C2C8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676318-A982-4E43-BAD6-88BF6B6E1E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3EF2C0-3275-462C-96FA-8E3133B4DF1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914400" y="1645920"/>
            <a:ext cx="1005804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600" spc="-1" strike="noStrike">
                <a:solidFill>
                  <a:srgbClr val="ffffff"/>
                </a:solidFill>
                <a:latin typeface="Calibri"/>
              </a:rPr>
              <a:t>Leish!</a:t>
            </a:r>
            <a:endParaRPr b="0" lang="en-US" sz="5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914400" y="2651760"/>
            <a:ext cx="10058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cccdd"/>
                </a:solidFill>
                <a:latin typeface="Calibri"/>
              </a:rPr>
              <a:t>Comprehensive Business Plan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5029200" y="3291840"/>
            <a:ext cx="2102760" cy="54360"/>
          </a:xfrm>
          <a:prstGeom prst="rect">
            <a:avLst/>
          </a:prstGeom>
          <a:solidFill>
            <a:srgbClr val="20c99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914400" y="3657600"/>
            <a:ext cx="1005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6c6c8a"/>
                </a:solidFill>
                <a:latin typeface="Calibri"/>
              </a:rPr>
              <a:t>Malaysia's Leading Beauty &amp; Wellness Marketplace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914400" y="5029200"/>
            <a:ext cx="1005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c6c8a"/>
                </a:solidFill>
                <a:latin typeface="Calibri"/>
              </a:rPr>
              <a:t>August 2026  |  Confidential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1 / 15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548640" y="457200"/>
            <a:ext cx="72720" cy="45684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777240" y="41148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Executive Summary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777240" y="91440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Overview of Leish! and key targets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777240" y="1463040"/>
            <a:ext cx="5028840" cy="27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Malaysian beauty &amp; wellness marketplace connecting customers with artists and studios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Built on Next.js 16 + Neon Postgres + Drizzle ORM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Payment via Billplz, email via Brevo, media via Cloudinary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Deployed on Vercel with Cloudflare edge infrastructure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Key Targets (Month 12):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50,000 Monthly Active Users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2,000 Active Service Providers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15,000 Monthly Bookings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RM 5M/month Gross Transaction Value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8" name="Table 5"/>
          <p:cNvGraphicFramePr/>
          <p:nvPr/>
        </p:nvGraphicFramePr>
        <p:xfrm>
          <a:off x="6583680" y="1463040"/>
          <a:ext cx="4754520" cy="223992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</a:tblGrid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Timeline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MAU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50,000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12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Providers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2,000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12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Monthly Bookings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15,000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12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GTV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5M/mo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12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Revenue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135K/mo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12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Break-Even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10-12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—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</a:tbl>
          </a:graphicData>
        </a:graphic>
      </p:graphicFrame>
      <p:sp>
        <p:nvSpPr>
          <p:cNvPr id="79" name="TextBox 6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2 / 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548640" y="457200"/>
            <a:ext cx="72720" cy="45684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777240" y="41148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Company Overview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777240" y="91440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Mission, vision, and structure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777240" y="1463040"/>
            <a:ext cx="5028840" cy="20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Mission: Democratize access to beauty and wellness services in Malaysia by making discovery, booking, and payment seamless for both consumers and providers.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Vision: Become the leading beauty and wellness marketplace in Southeast Asia, starting with Malaysia.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Legal: Malaysian Sdn Bhd (private limited company), registered in Kuala Lumpur.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6583680" y="1463040"/>
            <a:ext cx="5028840" cy="27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Founding Team: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CEO / Founder — Strategy, fundraising, partnerships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CTO — Architecture, engineering, infrastructure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COO — Operations, onboarding, customer support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CMO — Marketing, growth, brand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Core Values: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Customer-first design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Local-first payments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Transparent and secure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2d2d3f"/>
                </a:solidFill>
                <a:latin typeface="Calibri"/>
              </a:rPr>
              <a:t>Cloud-native and scalable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3 / 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548640" y="457200"/>
            <a:ext cx="72720" cy="45684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777240" y="41148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Market Analysis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777240" y="91440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Industry size, target segments, and competition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777240" y="1371600"/>
            <a:ext cx="10515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d2d3f"/>
                </a:solidFill>
                <a:latin typeface="Calibri"/>
              </a:rPr>
              <a:t>Industry: Malaysian beauty &amp; wellness market ~RM 8B (2025), growing 12-15% CAGR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0" name="Table 5"/>
          <p:cNvGraphicFramePr/>
          <p:nvPr/>
        </p:nvGraphicFramePr>
        <p:xfrm>
          <a:off x="777240" y="1828800"/>
          <a:ext cx="8686440" cy="16002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228600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Size Estimate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Urban Consumers (18-45)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Tech-savvy Malaysians in KL, PJ, Penang, Johor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~8M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Beauty Artists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Independent stylists, nail techs, aestheticians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~50,000+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Studios / Salons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Small-medium salons seeking digital presence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~10,000+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Premium / Spa Clients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High-income consumers for premium experiences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~2M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</a:tbl>
          </a:graphicData>
        </a:graphic>
      </p:graphicFrame>
      <p:sp>
        <p:nvSpPr>
          <p:cNvPr id="91" name="TextBox 6"/>
          <p:cNvSpPr/>
          <p:nvPr/>
        </p:nvSpPr>
        <p:spPr>
          <a:xfrm>
            <a:off x="777240" y="3657600"/>
            <a:ext cx="10515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Competitive Advantage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7"/>
          <p:cNvSpPr/>
          <p:nvPr/>
        </p:nvSpPr>
        <p:spPr>
          <a:xfrm>
            <a:off x="777240" y="3977640"/>
            <a:ext cx="10515240" cy="11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1. Local-first payment integration (Billplz — FPX, credit card, e-wallet)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2. Neon Auth — secure, modern authentication with session management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3. Dashboard ecosystem — separate dashboards for admin, artists, and studios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4. Cron-driven automation — booking reminders, payment reconciliation, lead follow-ups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5. Cloud-native infrastructure — serverless, scalable, low operational overhead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8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4 / 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548640" y="457200"/>
            <a:ext cx="72720" cy="45684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777240" y="41148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Value Proposition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777240" y="91440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What we offer to each stakeholder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4"/>
          <p:cNvSpPr/>
          <p:nvPr/>
        </p:nvSpPr>
        <p:spPr>
          <a:xfrm>
            <a:off x="457200" y="1371600"/>
            <a:ext cx="3565800" cy="41112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594360" y="1389960"/>
            <a:ext cx="32914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For Customers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548640" y="1920240"/>
            <a:ext cx="3382920" cy="180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Discovery — browse by location, service, price, rating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Convenience — book in minutes with real-time availability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Security — Billplz escrow payment release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Transparency — clear pricing, reviews, provider profiles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Rewards — loyalty program with points and cashback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 7"/>
          <p:cNvSpPr/>
          <p:nvPr/>
        </p:nvSpPr>
        <p:spPr>
          <a:xfrm>
            <a:off x="4297680" y="1371600"/>
            <a:ext cx="3565800" cy="411120"/>
          </a:xfrm>
          <a:prstGeom prst="rect">
            <a:avLst/>
          </a:prstGeom>
          <a:solidFill>
            <a:srgbClr val="20c99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8"/>
          <p:cNvSpPr/>
          <p:nvPr/>
        </p:nvSpPr>
        <p:spPr>
          <a:xfrm>
            <a:off x="4434840" y="1389960"/>
            <a:ext cx="32914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For Providers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9"/>
          <p:cNvSpPr/>
          <p:nvPr/>
        </p:nvSpPr>
        <p:spPr>
          <a:xfrm>
            <a:off x="4389120" y="1920240"/>
            <a:ext cx="3382920" cy="19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Client acquisition — steady stream of booked clients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Business tools — calendar, staff mgmt, inventory, analytics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Professional presence — portfolio, reviews, ratings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Payment processing — automated collection &amp; settlement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Marketing — promotional tools, lead follow-up automation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10"/>
          <p:cNvSpPr/>
          <p:nvPr/>
        </p:nvSpPr>
        <p:spPr>
          <a:xfrm>
            <a:off x="8138160" y="1371600"/>
            <a:ext cx="3565800" cy="41112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11"/>
          <p:cNvSpPr/>
          <p:nvPr/>
        </p:nvSpPr>
        <p:spPr>
          <a:xfrm>
            <a:off x="8275320" y="1389960"/>
            <a:ext cx="32914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For the Platform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2"/>
          <p:cNvSpPr/>
          <p:nvPr/>
        </p:nvSpPr>
        <p:spPr>
          <a:xfrm>
            <a:off x="8229600" y="1920240"/>
            <a:ext cx="3382920" cy="163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Commission revenue — % of each transaction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Subscription revenue — premium plans for providers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Advertising — sponsored listings and promoted profiles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Lead generation — paid lead packages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Data insights — aggregated market intelligence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13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5 / 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548640" y="457200"/>
            <a:ext cx="72720" cy="45684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777240" y="41148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Business Model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777240" y="91440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Revenue streams, pricing, and payment flow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777240" y="137160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Revenue Streams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1" name="Table 5"/>
          <p:cNvGraphicFramePr/>
          <p:nvPr/>
        </p:nvGraphicFramePr>
        <p:xfrm>
          <a:off x="777240" y="1737360"/>
          <a:ext cx="4571640" cy="191988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</a:tblGrid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Stream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Target % of Revenue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Transaction Commission (10-15%)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60%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Subscription Plans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Advertising &amp; Promotions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Lead Generation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Value-Added Services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2" name="TextBox 6"/>
          <p:cNvSpPr/>
          <p:nvPr/>
        </p:nvSpPr>
        <p:spPr>
          <a:xfrm>
            <a:off x="6583680" y="137160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Subscription Tiers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3" name="Table 7"/>
          <p:cNvGraphicFramePr/>
          <p:nvPr/>
        </p:nvGraphicFramePr>
        <p:xfrm>
          <a:off x="6583680" y="1737360"/>
          <a:ext cx="5028840" cy="16470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246888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Price (RM/mo)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Free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Basic profile, 10 bookings/mo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Pro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99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Unlimited bookings, analytics, calendar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Business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299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Multi-staff, inventory, priority support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Enterprise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Custom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White-label, API access, dedicated manager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</a:tbl>
          </a:graphicData>
        </a:graphic>
      </p:graphicFrame>
      <p:sp>
        <p:nvSpPr>
          <p:cNvPr id="114" name="TextBox 8"/>
          <p:cNvSpPr/>
          <p:nvPr/>
        </p:nvSpPr>
        <p:spPr>
          <a:xfrm>
            <a:off x="777240" y="4114800"/>
            <a:ext cx="10515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Payment Flow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777240" y="4434840"/>
            <a:ext cx="10515240" cy="11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1. Customer books a service and pays via Billplz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2. Payment is held in escrow (Billplz pending)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3. Service is completed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4. Platform releases payment to provider (minus commission)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5. Provider settles to bank account via FPX or transfer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6 / 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548640" y="457200"/>
            <a:ext cx="72720" cy="45684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777240" y="41148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Marketing Strategy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777240" y="91440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Go-to-market phases and acquisition channels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777240" y="1371600"/>
            <a:ext cx="10515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Go-to-Market Phases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1" name="Table 5"/>
          <p:cNvGraphicFramePr/>
          <p:nvPr/>
        </p:nvGraphicFramePr>
        <p:xfrm>
          <a:off x="777240" y="1737360"/>
          <a:ext cx="10972440" cy="132696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640080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Timeline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Key Activities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Seed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Months 1-3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Onboard 100 artists, 20 studios in KL; Instagram/TikTok campaigns; influencer collabs; referral program; Google Ads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Scale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Months 4-8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Expand to Penang, Johor, Ipoh; launch subscriptions; content marketing; email campaigns; PR; beauty school partnerships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Dominate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Months 9-18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All major cities; loyalty program; corporate booking; cross-border (Singapore, Indonesia); B2B product partnerships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TextBox 6"/>
          <p:cNvSpPr/>
          <p:nvPr/>
        </p:nvSpPr>
        <p:spPr>
          <a:xfrm>
            <a:off x="777240" y="3840480"/>
            <a:ext cx="10515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Customer Acquisition Channels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3" name="Table 7"/>
          <p:cNvGraphicFramePr/>
          <p:nvPr/>
        </p:nvGraphicFramePr>
        <p:xfrm>
          <a:off x="777240" y="4160520"/>
          <a:ext cx="9143640" cy="223992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  <a:gridCol w="1828800"/>
              </a:tblGrid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Target CPA (RM)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Instagram/TikTok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Reels, influencer collabs, paid ads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15-25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Google Ads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Search + Display, retargeting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20-30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Referral Program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20 credit per successful referral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10-15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Content Marketing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SEO blog, YouTube tutorials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5-10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Email Marketing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Brevo campaigns, welcome sequences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3-8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WhatsApp Business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Webhook notifications, broadcasts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2-5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</a:tbl>
          </a:graphicData>
        </a:graphic>
      </p:graphicFrame>
      <p:sp>
        <p:nvSpPr>
          <p:cNvPr id="124" name="TextBox 8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7 / 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548640" y="457200"/>
            <a:ext cx="72720" cy="45684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777240" y="41148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Technology Stack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777240" y="91440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Architecture and infrastructure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8" name="Table 4"/>
          <p:cNvGraphicFramePr/>
          <p:nvPr/>
        </p:nvGraphicFramePr>
        <p:xfrm>
          <a:off x="777240" y="1371600"/>
          <a:ext cx="10515240" cy="4160520"/>
        </p:xfrm>
        <a:graphic>
          <a:graphicData uri="http://schemas.openxmlformats.org/drawingml/2006/table">
            <a:tbl>
              <a:tblPr/>
              <a:tblGrid>
                <a:gridCol w="2286000"/>
                <a:gridCol w="822960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Frontend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Next.js 16 (App Router), TypeScript, Tailwind CSS 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Backend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Next.js API Routes, Drizzle ORM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Database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Neon (serverless Postgres)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Auth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@neondatabase/auth (Neon Auth / Better Auth)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Payments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Billplz (Malaysian payment gateway)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Email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Brevo (@getbrevo/brevo)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Storage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Cloudinary (images/media)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CDN/Edge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Cloudflare (Workers, KV, R2)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Monitoring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Sentry (error tracking, performance)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Hosting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Vercel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Testing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Playwright (E2E)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CI/CD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GitHub Actions (auto-deploy on push to main)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</a:tbl>
          </a:graphicData>
        </a:graphic>
      </p:graphicFrame>
      <p:sp>
        <p:nvSpPr>
          <p:cNvPr id="129" name="TextBox 5"/>
          <p:cNvSpPr/>
          <p:nvPr/>
        </p:nvSpPr>
        <p:spPr>
          <a:xfrm>
            <a:off x="777240" y="5394960"/>
            <a:ext cx="10515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Key Infrastructure Components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777240" y="5669280"/>
            <a:ext cx="502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Middleware (src/proxy.ts): Dashboard auth, rate limiting, CSP headers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7"/>
          <p:cNvSpPr/>
          <p:nvPr/>
        </p:nvSpPr>
        <p:spPr>
          <a:xfrm>
            <a:off x="6400800" y="5669280"/>
            <a:ext cx="5028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Cron Jobs: Sync auth, reconcile payments, booking reminders, lead follow-ups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8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8 / 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"/>
          <p:cNvSpPr/>
          <p:nvPr/>
        </p:nvSpPr>
        <p:spPr>
          <a:xfrm>
            <a:off x="548640" y="457200"/>
            <a:ext cx="72720" cy="45684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777240" y="41148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Financial Projections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3"/>
          <p:cNvSpPr/>
          <p:nvPr/>
        </p:nvSpPr>
        <p:spPr>
          <a:xfrm>
            <a:off x="777240" y="91440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Startup costs, operating costs, and revenue forecast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4"/>
          <p:cNvSpPr/>
          <p:nvPr/>
        </p:nvSpPr>
        <p:spPr>
          <a:xfrm>
            <a:off x="777240" y="1371600"/>
            <a:ext cx="5028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Startup Costs (One-Time)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7" name="Table 5"/>
          <p:cNvGraphicFramePr/>
          <p:nvPr/>
        </p:nvGraphicFramePr>
        <p:xfrm>
          <a:off x="777240" y="1691640"/>
          <a:ext cx="4571640" cy="256032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Cost (RM)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Company registration &amp; legal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Brand identity &amp; design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Initial development (6 months)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150,000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Marketing launch budget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30,000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Infrastructure setup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Miscellaneous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TOTAL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210,000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6"/>
          <p:cNvSpPr/>
          <p:nvPr/>
        </p:nvSpPr>
        <p:spPr>
          <a:xfrm>
            <a:off x="6541560" y="457200"/>
            <a:ext cx="5028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Monthly Operating Costs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9" name="Table 7"/>
          <p:cNvGraphicFramePr/>
          <p:nvPr/>
        </p:nvGraphicFramePr>
        <p:xfrm>
          <a:off x="6524640" y="880200"/>
          <a:ext cx="4571640" cy="353448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</a:tblGrid>
              <a:tr h="253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Cost (RM)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247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Vercel hosting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3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Neon database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253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Cloudinary storage/bandwidth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800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3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Billplz transaction fees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Variable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253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Brevo email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3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Cloudflare Workers/KV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300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253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Upstash Redis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3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Sentry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150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253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Marketing spend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15,000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3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Staff salaries (4 FTE)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40,000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253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Office / co-working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3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Miscellaneous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250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TOTAL (fixed)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~61,150 + variable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8"/>
          <p:cNvSpPr/>
          <p:nvPr/>
        </p:nvSpPr>
        <p:spPr>
          <a:xfrm>
            <a:off x="777240" y="4389120"/>
            <a:ext cx="10515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Revenue Projections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1" name="Table 9"/>
          <p:cNvGraphicFramePr/>
          <p:nvPr/>
        </p:nvGraphicFramePr>
        <p:xfrm>
          <a:off x="777240" y="4709160"/>
          <a:ext cx="10881000" cy="191988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645920"/>
                <a:gridCol w="1828800"/>
                <a:gridCol w="1645920"/>
                <a:gridCol w="1371600"/>
                <a:gridCol w="1645920"/>
              </a:tblGrid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Bookings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GTV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Commission (10%)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Subscriptions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Other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Total Rev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M1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25,000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2,500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2,500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100,000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12,500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M6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8,000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400,000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40,000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52,000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M9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12,000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600,000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60,000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25,000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90,000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M12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15,000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750,000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75,000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10,000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135,000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0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9 / 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548640" y="457200"/>
            <a:ext cx="72720" cy="45684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777240" y="41148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Break-Even Analysis &amp; Funding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777240" y="91440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Path to profitability and capital requirements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777240" y="146304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Break-Even Analysis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5"/>
          <p:cNvSpPr/>
          <p:nvPr/>
        </p:nvSpPr>
        <p:spPr>
          <a:xfrm>
            <a:off x="777240" y="1828800"/>
            <a:ext cx="5028840" cy="12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d2d3f"/>
                </a:solidFill>
                <a:latin typeface="Calibri"/>
              </a:rPr>
              <a:t>Fixed monthly costs: ~RM 61,150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d2d3f"/>
                </a:solidFill>
                <a:latin typeface="Calibri"/>
              </a:rPr>
              <a:t>Break-even GTV (at 10% commission): RM 611,500/month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d2d3f"/>
                </a:solidFill>
                <a:latin typeface="Calibri"/>
              </a:rPr>
              <a:t>Projected to reach break-even by Month 10-12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d2d3f"/>
                </a:solidFill>
                <a:latin typeface="Calibri"/>
              </a:rPr>
              <a:t>Revenue grows from RM 2,500 (M1) to RM 135,000 (M12)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d2d3f"/>
                </a:solidFill>
                <a:latin typeface="Calibri"/>
              </a:rPr>
              <a:t>Commission rate: 10% standard, 8% for subscribed providers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6583680" y="146304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Funding Requirements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9" name="Table 7"/>
          <p:cNvGraphicFramePr/>
          <p:nvPr/>
        </p:nvGraphicFramePr>
        <p:xfrm>
          <a:off x="6583680" y="1828800"/>
          <a:ext cx="3657240" cy="191988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</a:tblGrid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Use of Funds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Allocation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Product dev &amp; engineering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40%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Marketing &amp; user acquisition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30%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Operations &amp; infrastructure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Legal, admin &amp; compliance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Contingency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0" name="TextBox 8"/>
          <p:cNvSpPr/>
          <p:nvPr/>
        </p:nvSpPr>
        <p:spPr>
          <a:xfrm>
            <a:off x="6583680" y="3840480"/>
            <a:ext cx="502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e83e8c"/>
                </a:solidFill>
                <a:latin typeface="Calibri"/>
              </a:rPr>
              <a:t>Seed Round: RM 500,000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9"/>
          <p:cNvSpPr/>
          <p:nvPr/>
        </p:nvSpPr>
        <p:spPr>
          <a:xfrm>
            <a:off x="6583680" y="4206240"/>
            <a:ext cx="502884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Covers 18 months of operations + development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Target: close by Month 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Leads to Series A readiness by Month 18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777240" y="4754880"/>
            <a:ext cx="10515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Key Financial Metrics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3" name="Table 11"/>
          <p:cNvGraphicFramePr/>
          <p:nvPr/>
        </p:nvGraphicFramePr>
        <p:xfrm>
          <a:off x="777240" y="5074920"/>
          <a:ext cx="10058040" cy="16002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  <a:gridCol w="274320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Measurement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CAC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&lt; RM 25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Affordable digital acquisition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Total marketing spend / new customers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LTV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&gt; RM 200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Strong retention &amp; repeat bookings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Avg. bookings per customer × avg. value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LTV:CAC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&gt; 8:1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Healthy unit economics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LTV / CAC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Monthly Churn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&lt; 5%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Strong provider &amp; customer retention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Lost customers / total customers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</a:tbl>
          </a:graphicData>
        </a:graphic>
      </p:graphicFrame>
      <p:sp>
        <p:nvSpPr>
          <p:cNvPr id="154" name="TextBox 12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10 / 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548640" y="457200"/>
            <a:ext cx="72720" cy="45684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777240" y="41148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Growth Strategy &amp; Product Roadmap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3"/>
          <p:cNvSpPr/>
          <p:nvPr/>
        </p:nvSpPr>
        <p:spPr>
          <a:xfrm>
            <a:off x="777240" y="91440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From MVP to regional leader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ectangle 4"/>
          <p:cNvSpPr/>
          <p:nvPr/>
        </p:nvSpPr>
        <p:spPr>
          <a:xfrm>
            <a:off x="777240" y="1371600"/>
            <a:ext cx="72720" cy="31968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5"/>
          <p:cNvSpPr/>
          <p:nvPr/>
        </p:nvSpPr>
        <p:spPr>
          <a:xfrm>
            <a:off x="1005840" y="1371600"/>
            <a:ext cx="2285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83e8c"/>
                </a:solidFill>
                <a:latin typeface="Calibri"/>
              </a:rPr>
              <a:t>Q3 2026 (Now)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6"/>
          <p:cNvSpPr/>
          <p:nvPr/>
        </p:nvSpPr>
        <p:spPr>
          <a:xfrm>
            <a:off x="3200400" y="1371600"/>
            <a:ext cx="1828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</a:rPr>
              <a:t>MVP Launch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7"/>
          <p:cNvSpPr/>
          <p:nvPr/>
        </p:nvSpPr>
        <p:spPr>
          <a:xfrm>
            <a:off x="5029200" y="1371600"/>
            <a:ext cx="640044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Core booking flow live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Onboard 100+ artists in KL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Basic search and filtering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Billplz payment integration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ectangle 8"/>
          <p:cNvSpPr/>
          <p:nvPr/>
        </p:nvSpPr>
        <p:spPr>
          <a:xfrm>
            <a:off x="777240" y="1874520"/>
            <a:ext cx="72720" cy="31968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9"/>
          <p:cNvSpPr/>
          <p:nvPr/>
        </p:nvSpPr>
        <p:spPr>
          <a:xfrm>
            <a:off x="1005840" y="1874520"/>
            <a:ext cx="2285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83e8c"/>
                </a:solidFill>
                <a:latin typeface="Calibri"/>
              </a:rPr>
              <a:t>Q4 2026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3200400" y="1874520"/>
            <a:ext cx="1828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</a:rPr>
              <a:t>Product Enhancement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11"/>
          <p:cNvSpPr/>
          <p:nvPr/>
        </p:nvSpPr>
        <p:spPr>
          <a:xfrm>
            <a:off x="5029200" y="1874520"/>
            <a:ext cx="640044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Mobile PWA optimization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Review and rating system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Loyalty points program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Advanced search filters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 12"/>
          <p:cNvSpPr/>
          <p:nvPr/>
        </p:nvSpPr>
        <p:spPr>
          <a:xfrm>
            <a:off x="777240" y="2377440"/>
            <a:ext cx="72720" cy="31968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13"/>
          <p:cNvSpPr/>
          <p:nvPr/>
        </p:nvSpPr>
        <p:spPr>
          <a:xfrm>
            <a:off x="1005840" y="2377440"/>
            <a:ext cx="2285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83e8c"/>
                </a:solidFill>
                <a:latin typeface="Calibri"/>
              </a:rPr>
              <a:t>Q1-Q2 2027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14"/>
          <p:cNvSpPr/>
          <p:nvPr/>
        </p:nvSpPr>
        <p:spPr>
          <a:xfrm>
            <a:off x="3200400" y="2377440"/>
            <a:ext cx="1828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</a:rPr>
              <a:t>Scale &amp; Expand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5"/>
          <p:cNvSpPr/>
          <p:nvPr/>
        </p:nvSpPr>
        <p:spPr>
          <a:xfrm>
            <a:off x="5029200" y="2377440"/>
            <a:ext cx="640044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Mobile native app (React Native/Flutter)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AI-powered recommendations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Multi-city expansion (Penang, Johor, Ipoh)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Subscription plans for providers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 16"/>
          <p:cNvSpPr/>
          <p:nvPr/>
        </p:nvSpPr>
        <p:spPr>
          <a:xfrm>
            <a:off x="777240" y="2880360"/>
            <a:ext cx="72720" cy="31968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17"/>
          <p:cNvSpPr/>
          <p:nvPr/>
        </p:nvSpPr>
        <p:spPr>
          <a:xfrm>
            <a:off x="1005840" y="2880360"/>
            <a:ext cx="2285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e83e8c"/>
                </a:solidFill>
                <a:latin typeface="Calibri"/>
              </a:rPr>
              <a:t>Q3-Q4 2027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18"/>
          <p:cNvSpPr/>
          <p:nvPr/>
        </p:nvSpPr>
        <p:spPr>
          <a:xfrm>
            <a:off x="3200400" y="2880360"/>
            <a:ext cx="1828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</a:rPr>
              <a:t>Market Leadership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19"/>
          <p:cNvSpPr/>
          <p:nvPr/>
        </p:nvSpPr>
        <p:spPr>
          <a:xfrm>
            <a:off x="5029200" y="2880360"/>
            <a:ext cx="640044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Cross-border expansion (Singapore)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B2B marketplace (product suppliers)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Insurance integration for providers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• </a:t>
            </a:r>
            <a:r>
              <a:rPr b="0" lang="en-US" sz="1000" spc="-1" strike="noStrike">
                <a:solidFill>
                  <a:srgbClr val="2d2d3f"/>
                </a:solidFill>
                <a:latin typeface="Calibri"/>
              </a:rPr>
              <a:t>API marketplace &amp; white-label offering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20"/>
          <p:cNvSpPr/>
          <p:nvPr/>
        </p:nvSpPr>
        <p:spPr>
          <a:xfrm>
            <a:off x="777240" y="3840480"/>
            <a:ext cx="10515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Key Growth Metrics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5" name="Table 21"/>
          <p:cNvGraphicFramePr/>
          <p:nvPr/>
        </p:nvGraphicFramePr>
        <p:xfrm>
          <a:off x="777240" y="4160520"/>
          <a:ext cx="10515240" cy="191988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286000"/>
                <a:gridCol w="2743200"/>
              </a:tblGrid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How We Measure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CAC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&lt; RM 25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Affordable acquisition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Marketing spend / new customers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LTV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&gt; RM 200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Strong customer value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Avg bookings × avg value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LTV:CAC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&gt; 8:1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Healthy unit economics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LTV / CAC ratio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Churn Rate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&lt; 5%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Strong retention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Lost customers / total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NPS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&gt; 50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Customer satisfaction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Survey-based scoring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6" name="TextBox 22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11 / 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"/>
          <p:cNvSpPr/>
          <p:nvPr/>
        </p:nvSpPr>
        <p:spPr>
          <a:xfrm>
            <a:off x="548640" y="457200"/>
            <a:ext cx="72720" cy="45684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2"/>
          <p:cNvSpPr/>
          <p:nvPr/>
        </p:nvSpPr>
        <p:spPr>
          <a:xfrm>
            <a:off x="777240" y="41148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Risk Analysis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3"/>
          <p:cNvSpPr/>
          <p:nvPr/>
        </p:nvSpPr>
        <p:spPr>
          <a:xfrm>
            <a:off x="777240" y="91440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Key risks and mitigation strategies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0" name="Table 4"/>
          <p:cNvGraphicFramePr/>
          <p:nvPr/>
        </p:nvGraphicFramePr>
        <p:xfrm>
          <a:off x="457200" y="1371600"/>
          <a:ext cx="11155320" cy="288036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097280"/>
                <a:gridCol w="640080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Likelihood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Low initial provider supply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High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High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Aggressive onboarding incentives, beauty school partnerships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Payment fraud / disputes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Medium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High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Billplz escrow, KYC verification, fraud detection rules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Competitor entry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Medium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Medium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First-mover advantage, local payment integration, network effects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Regulatory changes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Low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Medium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Legal counsel, compliance monitoring, flexible structure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Technology failure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Low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High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Multi-region Neon, Vercel edge, automated backups, Sentry monitoring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Provider churn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Medium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Medium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Subscription lock-in, analytics tools, marketing support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Customer trust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Medium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High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Verified profiles, secure payments, transparent reviews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Cash flow gap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Medium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High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Lean operations, milestone-based funding, revenue diversification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</a:tbl>
          </a:graphicData>
        </a:graphic>
      </p:graphicFrame>
      <p:sp>
        <p:nvSpPr>
          <p:cNvPr id="181" name="TextBox 5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12 / 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548640" y="457200"/>
            <a:ext cx="72720" cy="45684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2"/>
          <p:cNvSpPr/>
          <p:nvPr/>
        </p:nvSpPr>
        <p:spPr>
          <a:xfrm>
            <a:off x="777240" y="41148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Team, Hiring Plan &amp; Milestones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777240" y="91440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People and key milestones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4"/>
          <p:cNvSpPr/>
          <p:nvPr/>
        </p:nvSpPr>
        <p:spPr>
          <a:xfrm>
            <a:off x="777240" y="1371600"/>
            <a:ext cx="5028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Current Team (4 FTE)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6" name="Table 5"/>
          <p:cNvGraphicFramePr/>
          <p:nvPr/>
        </p:nvGraphicFramePr>
        <p:xfrm>
          <a:off x="777240" y="1691640"/>
          <a:ext cx="5028840" cy="16002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Responsibilities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CEO / Founder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Strategy, fundraising, partnerships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CTO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Architecture, engineering, infrastructure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COO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Operations, onboarding, customer support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CMO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Marketing, growth, brand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</a:tbl>
          </a:graphicData>
        </a:graphic>
      </p:graphicFrame>
      <p:sp>
        <p:nvSpPr>
          <p:cNvPr id="187" name="TextBox 6"/>
          <p:cNvSpPr/>
          <p:nvPr/>
        </p:nvSpPr>
        <p:spPr>
          <a:xfrm>
            <a:off x="6583680" y="1371600"/>
            <a:ext cx="5028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Hiring Plan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8" name="Table 7"/>
          <p:cNvGraphicFramePr/>
          <p:nvPr/>
        </p:nvGraphicFramePr>
        <p:xfrm>
          <a:off x="6583680" y="1691640"/>
          <a:ext cx="5211720" cy="19656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1828800"/>
              </a:tblGrid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2x Full-Stack Engineers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Scale product development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M4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1x Marketing Specialist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Execute growth campaigns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M6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1x Customer Support Agent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Handle growing user base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M9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1x Data Analyst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Growth analytics &amp; optimization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M12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1x Business Development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Partnerships &amp; expansion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9" name="TextBox 8"/>
          <p:cNvSpPr/>
          <p:nvPr/>
        </p:nvSpPr>
        <p:spPr>
          <a:xfrm>
            <a:off x="777240" y="3657600"/>
            <a:ext cx="10515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Key Milestones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0" name="Table 9"/>
          <p:cNvGraphicFramePr/>
          <p:nvPr/>
        </p:nvGraphicFramePr>
        <p:xfrm>
          <a:off x="777240" y="3977640"/>
          <a:ext cx="10515240" cy="352008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400800"/>
              </a:tblGrid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Success Criteria</a:t>
                      </a:r>
                      <a:endParaRPr b="0" lang="en-US" sz="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MVP Launch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1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Core booking flow live, 50+ artists onboarded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First 1,000 Users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2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1,000 registered customers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First 100 Bookings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2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100 completed bookings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Payment Integration Live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1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Billplz fully integrated and tested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500 Active Providers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6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500+ artists and studios on platform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100K Monthly Revenue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9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Sustained monthly revenue &gt; RM 100K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Break-Even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10-12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Monthly revenue exceeds monthly costs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Multi-City Expansion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12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Operations in 3+ cities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319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Seed Funding Closed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6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500K raised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Series A Readiness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Month 18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8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Strong metrics, ready for Series A</a:t>
                      </a:r>
                      <a:endParaRPr b="0" lang="en-US" sz="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</a:tbl>
          </a:graphicData>
        </a:graphic>
      </p:graphicFrame>
      <p:sp>
        <p:nvSpPr>
          <p:cNvPr id="191" name="TextBox 10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13 / 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"/>
          <p:cNvSpPr/>
          <p:nvPr/>
        </p:nvSpPr>
        <p:spPr>
          <a:xfrm>
            <a:off x="548640" y="457200"/>
            <a:ext cx="72720" cy="45684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777240" y="41148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KPIs &amp; Exit Strategy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777240" y="91440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How we measure success and future paths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777240" y="1371600"/>
            <a:ext cx="5028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Key Performance Indicators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6" name="Table 5"/>
          <p:cNvGraphicFramePr/>
          <p:nvPr/>
        </p:nvGraphicFramePr>
        <p:xfrm>
          <a:off x="685800" y="1705320"/>
          <a:ext cx="4434480" cy="2880360"/>
        </p:xfrm>
        <a:graphic>
          <a:graphicData uri="http://schemas.openxmlformats.org/drawingml/2006/table">
            <a:tbl>
              <a:tblPr/>
              <a:tblGrid>
                <a:gridCol w="2016000"/>
                <a:gridCol w="1209600"/>
                <a:gridCol w="1208880"/>
              </a:tblGrid>
              <a:tr h="247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247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Customer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MAU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50,000 (M12)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Customer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CAC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&lt; RM 25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247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Customer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LTV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&gt; RM 200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Customer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Booking Conversion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&gt; 15%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402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Customer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Repeat Booking Rate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&gt; 40%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Provider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Active Providers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2,000 (M12)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247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Provider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Provider Churn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&lt; 5%/month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Financial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GTV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RM 5M/month (M12)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247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Financial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Gross Margin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&gt; 60%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Operational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System Uptime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99.9%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247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Operational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Page Load Time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&lt; 2 seconds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7" name="TextBox 6"/>
          <p:cNvSpPr/>
          <p:nvPr/>
        </p:nvSpPr>
        <p:spPr>
          <a:xfrm>
            <a:off x="6583680" y="1371600"/>
            <a:ext cx="5028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Exit Strategy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7"/>
          <p:cNvSpPr/>
          <p:nvPr/>
        </p:nvSpPr>
        <p:spPr>
          <a:xfrm>
            <a:off x="6583680" y="1737360"/>
            <a:ext cx="5028840" cy="16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1. Acquisition — By a larger beauty/wellness platform (e.g., Style Theory, Zalora, Fresha, Booksy)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2. IPO — Long-term goal of listing on Malaysian stock exchange (MYX)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3. Strategic Partnership — Acquisition of technology/IP by a major player in beauty/retail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Target exit timeline: 5-7 years from launch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2d2d3f"/>
                </a:solidFill>
                <a:latin typeface="Calibri"/>
              </a:rPr>
              <a:t>Series A readiness target: Month 18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8"/>
          <p:cNvSpPr/>
          <p:nvPr/>
        </p:nvSpPr>
        <p:spPr>
          <a:xfrm>
            <a:off x="7543800" y="4572000"/>
            <a:ext cx="10515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Operational Targets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0" name="Table 9"/>
          <p:cNvGraphicFramePr/>
          <p:nvPr/>
        </p:nvGraphicFramePr>
        <p:xfrm>
          <a:off x="591480" y="5100120"/>
          <a:ext cx="9109080" cy="1493280"/>
        </p:xfrm>
        <a:graphic>
          <a:graphicData uri="http://schemas.openxmlformats.org/drawingml/2006/table">
            <a:tbl>
              <a:tblPr/>
              <a:tblGrid>
                <a:gridCol w="2602800"/>
                <a:gridCol w="1735200"/>
                <a:gridCol w="1735200"/>
                <a:gridCol w="3035880"/>
              </a:tblGrid>
              <a:tr h="298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2e"/>
                    </a:solidFill>
                  </a:tcPr>
                </a:tc>
              </a:tr>
              <a:tr h="298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API Response Time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&lt; 200ms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TBD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Neon edge + Vercel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Error Rate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&lt; 0.1%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TBD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Sentry monitoring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  <a:tr h="298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Support Response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&lt; 4 hours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TBD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Business hours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Email Delivery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&gt; 99%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TBD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d2d3f"/>
                          </a:solidFill>
                          <a:latin typeface="Calibri"/>
                        </a:rPr>
                        <a:t>Brevo + Cloudflare routing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8fc"/>
                    </a:solidFill>
                  </a:tcPr>
                </a:tc>
              </a:tr>
            </a:tbl>
          </a:graphicData>
        </a:graphic>
      </p:graphicFrame>
      <p:sp>
        <p:nvSpPr>
          <p:cNvPr id="201" name="TextBox 10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14 / 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e83e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2"/>
          <p:cNvSpPr/>
          <p:nvPr/>
        </p:nvSpPr>
        <p:spPr>
          <a:xfrm>
            <a:off x="914400" y="1828800"/>
            <a:ext cx="100580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</a:rPr>
              <a:t>Thank You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Rectangle 3"/>
          <p:cNvSpPr/>
          <p:nvPr/>
        </p:nvSpPr>
        <p:spPr>
          <a:xfrm>
            <a:off x="5029200" y="2834640"/>
            <a:ext cx="2102760" cy="54360"/>
          </a:xfrm>
          <a:prstGeom prst="rect">
            <a:avLst/>
          </a:prstGeom>
          <a:solidFill>
            <a:srgbClr val="20c99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4"/>
          <p:cNvSpPr/>
          <p:nvPr/>
        </p:nvSpPr>
        <p:spPr>
          <a:xfrm>
            <a:off x="914400" y="3200400"/>
            <a:ext cx="10058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</a:rPr>
              <a:t>Leish! — Malaysia's Beauty &amp; Wellness Marketplace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Box 5"/>
          <p:cNvSpPr/>
          <p:nvPr/>
        </p:nvSpPr>
        <p:spPr>
          <a:xfrm>
            <a:off x="914400" y="384048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leish.my  |  Confidential  |  August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Box 6"/>
          <p:cNvSpPr/>
          <p:nvPr/>
        </p:nvSpPr>
        <p:spPr>
          <a:xfrm>
            <a:off x="914400" y="5029200"/>
            <a:ext cx="10058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c6c8a"/>
                </a:solidFill>
                <a:latin typeface="Calibri"/>
              </a:rPr>
              <a:t>Questions? Contact the Leish! founding team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Box 7"/>
          <p:cNvSpPr/>
          <p:nvPr/>
        </p:nvSpPr>
        <p:spPr>
          <a:xfrm>
            <a:off x="11155680" y="6446520"/>
            <a:ext cx="91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c6c8a"/>
                </a:solidFill>
                <a:latin typeface="Calibri"/>
              </a:rPr>
              <a:t>15 / 15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2026-08-05T14:38:48Z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