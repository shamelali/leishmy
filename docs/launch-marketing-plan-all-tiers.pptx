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554480"/>
            <a:ext cx="3931920" cy="393192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371600" y="4754880"/>
            <a:ext cx="3566160" cy="356616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LEISH.MY · LAUNCH MARKETING PLAN · 90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Georgia"/>
              </a:rPr>
              <a:t>All Budget Tiers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9CA3AF"/>
                </a:solidFill>
                <a:latin typeface="Calibri"/>
              </a:rPr>
              <a:t>One launch · October 5, 2026 · Three ways to play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49039"/>
            <a:ext cx="3383280" cy="137160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519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RM 96,000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1,500 clients · 25–30 bookings/wk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749039"/>
            <a:ext cx="3383280" cy="137160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9319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B2777"/>
                </a:solidFill>
                <a:latin typeface="Calibri"/>
              </a:rP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2519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RM 40,000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70916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800 clients · 15–20 bookings/wk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749039"/>
            <a:ext cx="3383280" cy="137160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65A3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9319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5A30D"/>
                </a:solidFill>
                <a:latin typeface="Calibri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519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RM 10,000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70916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CA3AF"/>
                </a:solidFill>
                <a:latin typeface="Calibri"/>
              </a:rPr>
              <a:t>300 clients · 6–10 bookings/wk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CA3AF"/>
                </a:solidFill>
                <a:latin typeface="Calibri"/>
              </a:rPr>
              <a:t>Full details: docs/launch-marketing-plan*.md · decks: launch-marketing-plan*.pptx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-1737360"/>
            <a:ext cx="4206240" cy="420624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TIER 1 · HIGH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Georgia"/>
              </a:rPr>
              <a:t>RM 96,000 — full-scale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A3AF"/>
                </a:solidFill>
                <a:latin typeface="Calibri"/>
              </a:rPr>
              <a:t>Same launch date · same campaign · scaled execution — see docs/launch-marketing-plan-tiers.md for the comparison.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CA3AF"/>
                </a:solidFill>
                <a:latin typeface="Calibri"/>
              </a:rPr>
              <a:t>#BookBeautyAnywhere  ·  #NeverDMForADate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114808590800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66960" y="-1463040"/>
            <a:ext cx="4023360" cy="402336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0" y="-822960"/>
            <a:ext cx="2377440" cy="2377440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280160" y="4937760"/>
            <a:ext cx="3474720" cy="34747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640080" y="5577840"/>
            <a:ext cx="2011680" cy="201168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LEISH.MY · LAUNCH MARKETING PLAN · 90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Never DM for a Date Again.</a:t>
            </a:r>
          </a:p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CA3AF"/>
                </a:solidFill>
                <a:latin typeface="Calibri"/>
              </a:rPr>
              <a:t>Malaysia's beauty booking marketplace — official launch 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October 5,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794760"/>
            <a:ext cx="4023360" cy="105156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50208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CA3AF"/>
                </a:solidFill>
                <a:latin typeface="Calibri"/>
              </a:rPr>
              <a:t>TOTAL BUDGET</a:t>
            </a:r>
          </a:p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RM 96,000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3794760"/>
            <a:ext cx="4023360" cy="105156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3950208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CA3AF"/>
                </a:solidFill>
                <a:latin typeface="Calibri"/>
              </a:rPr>
              <a:t>DAY-90 TARGETS</a:t>
            </a:r>
          </a:p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25–30 bookings/wk · 60+ artists · 1,500 clients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3794760"/>
            <a:ext cx="2240280" cy="105156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3950208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CA3AF"/>
                </a:solidFill>
                <a:latin typeface="Calibri"/>
              </a:rPr>
              <a:t>LAUNCH DATE</a:t>
            </a:r>
          </a:p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Oct 5,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CA3AF"/>
                </a:solidFill>
                <a:latin typeface="Calibri"/>
              </a:rPr>
              <a:t>Aligned with the FY26 financial forecast — Year-1 revenue RM 180–250k · 20% commission · avg booking RM 250–350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The 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6616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2937"/>
                </a:solidFill>
                <a:latin typeface="Georgia"/>
              </a:rPr>
              <a:t>Beauty booking in Malaysia is broken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Clients DM 15 artists and wait days for a quote. Artists drown in DM chaos, ghosting and late payments. Nobody owns real-time MUA booking — that's Leish!'s wedge.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82880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828800"/>
            <a:ext cx="3566160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2240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B2777"/>
                </a:solidFill>
                <a:latin typeface="Calibri"/>
              </a:rPr>
              <a:t>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6060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2937"/>
                </a:solidFill>
                <a:latin typeface="Georgia"/>
              </a:rPr>
              <a:t>A two-sided marketplace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Clients book vetted makeup artists &amp; studios with real-time availability, instant confirmation and secure Billplz payment. Artists get portfolios, bookings, reminders and payouts.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82880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828800"/>
            <a:ext cx="356616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6060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2937"/>
                </a:solidFill>
                <a:latin typeface="Georgia"/>
              </a:rPr>
              <a:t>Both sides, supply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Recruit 30 anchor artists before Day 0 (critical path), then drive client demand through paid, KOLs, events and PR. Launch at the peak of wedding season.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6080760"/>
            <a:ext cx="3584448" cy="384048"/>
          </a:xfrm>
          <a:prstGeom prst="roundRect">
            <a:avLst>
              <a:gd name="adj" fmla="val 50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121908"/>
            <a:ext cx="3584448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11D48"/>
                </a:solidFill>
                <a:latin typeface="Calibri"/>
              </a:rPr>
              <a:t>Launch theme: Never DM for a date again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0248" y="6080760"/>
            <a:ext cx="3584448" cy="384048"/>
          </a:xfrm>
          <a:prstGeom prst="roundRect">
            <a:avLst>
              <a:gd name="adj" fmla="val 50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0248" y="6121908"/>
            <a:ext cx="3584448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11D48"/>
                </a:solidFill>
                <a:latin typeface="Calibri"/>
              </a:rPr>
              <a:t>Artist theme: Get booked. Get paid.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91856" y="6080760"/>
            <a:ext cx="3584448" cy="384048"/>
          </a:xfrm>
          <a:prstGeom prst="roundRect">
            <a:avLst>
              <a:gd name="adj" fmla="val 50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6" y="6121908"/>
            <a:ext cx="3584448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11D48"/>
                </a:solidFill>
                <a:latin typeface="Calibri"/>
              </a:rPr>
              <a:t>Hero categories: Bridal · Hijab · Event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Two messages, one marketplace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468880"/>
          </a:xfrm>
          <a:prstGeom prst="roundRect">
            <a:avLst>
              <a:gd name="adj" fmla="val 7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09728" cy="24688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11D48"/>
                </a:solidFill>
                <a:latin typeface="Calibri"/>
              </a:rPr>
              <a:t>TO 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4937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F2937"/>
                </a:solidFill>
                <a:latin typeface="Georgia"/>
              </a:rPr>
              <a:t>“Book Malaysia's top makeup artists &amp; studios in minutes — real-time availability, instant confirmation, secure payment.”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486400" cy="2468880"/>
          </a:xfrm>
          <a:prstGeom prst="roundRect">
            <a:avLst>
              <a:gd name="adj" fmla="val 7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109728" cy="24688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B5CF6"/>
                </a:solidFill>
                <a:latin typeface="Calibri"/>
              </a:rPr>
              <a:t>TO ARTISTS &amp; STUDIOS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937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F2937"/>
                </a:solidFill>
                <a:latin typeface="Georgia"/>
              </a:rPr>
              <a:t>“Get booked. Get paid. Your portfolio, your pricing, zero admin — we handle bookings, reminders and payments.”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WHAT THE PLATFORM ALREADY HAS — USE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DD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983480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Instant booking + Billplz 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47288" y="4937760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7016" y="4983480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Real-time availability &amp; reviews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4937760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DD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4983480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Artist/studio profiles with portfolios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68112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513832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Rewards + Leish+ (RM29/mo) upsell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47288" y="5468112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DD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57016" y="5513832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WhatsApp booking 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45936" y="5468112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5513832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Brevo email (hello@leish.my)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998464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DD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044184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GA4 + Meta Pixel installed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47288" y="5998464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57016" y="6044184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Artist shareable profile links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Four phases, one launch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27432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PHASE 0 · PRE-LAUNCH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Aug 10 – Oct 4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17296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10896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Waitlist live with RM30 offer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886200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822191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Recruit 30 anchor artists (concierge)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599432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535424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Teaser social 3x/wk + countdown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5312664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248656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GA4/Pixel events + Brevo sequences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0712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10712" y="1874519"/>
            <a:ext cx="2743200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9312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B2777"/>
                </a:solidFill>
                <a:latin typeface="Calibri"/>
              </a:rPr>
              <a:t>PHASE 1 · LAUNCH WEEK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Oct 5 – 11</a:t>
            </a:r>
          </a:p>
        </p:txBody>
      </p:sp>
      <p:sp>
        <p:nvSpPr>
          <p:cNvPr id="22" name="Oval 21"/>
          <p:cNvSpPr/>
          <p:nvPr/>
        </p:nvSpPr>
        <p:spPr>
          <a:xfrm>
            <a:off x="3666744" y="317296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9624" y="310896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“Never DM for a date again” campaign</a:t>
            </a:r>
          </a:p>
        </p:txBody>
      </p:sp>
      <p:sp>
        <p:nvSpPr>
          <p:cNvPr id="24" name="Oval 23"/>
          <p:cNvSpPr/>
          <p:nvPr/>
        </p:nvSpPr>
        <p:spPr>
          <a:xfrm>
            <a:off x="3666744" y="3886200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9624" y="3822191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KL launch pop-up + press event</a:t>
            </a:r>
          </a:p>
        </p:txBody>
      </p:sp>
      <p:sp>
        <p:nvSpPr>
          <p:cNvPr id="26" name="Oval 25"/>
          <p:cNvSpPr/>
          <p:nvPr/>
        </p:nvSpPr>
        <p:spPr>
          <a:xfrm>
            <a:off x="3666744" y="4599432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9624" y="4535424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Wave 1: 8–12 micro KOLs</a:t>
            </a:r>
          </a:p>
        </p:txBody>
      </p:sp>
      <p:sp>
        <p:nvSpPr>
          <p:cNvPr id="28" name="Oval 27"/>
          <p:cNvSpPr/>
          <p:nvPr/>
        </p:nvSpPr>
        <p:spPr>
          <a:xfrm>
            <a:off x="3666744" y="5312664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9624" y="5248656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Meta + Google paid ON, PR 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2783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2783" y="1874519"/>
            <a:ext cx="274320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1383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PHASE 2 · WEDDING SEASON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1383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Oct 12 – Dec 31</a:t>
            </a:r>
          </a:p>
        </p:txBody>
      </p:sp>
      <p:sp>
        <p:nvSpPr>
          <p:cNvPr id="34" name="Oval 33"/>
          <p:cNvSpPr/>
          <p:nvPr/>
        </p:nvSpPr>
        <p:spPr>
          <a:xfrm>
            <a:off x="6528816" y="317296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10896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Wave 2 KOLs + client UGC</a:t>
            </a:r>
          </a:p>
        </p:txBody>
      </p:sp>
      <p:sp>
        <p:nvSpPr>
          <p:cNvPr id="36" name="Oval 35"/>
          <p:cNvSpPr/>
          <p:nvPr/>
        </p:nvSpPr>
        <p:spPr>
          <a:xfrm>
            <a:off x="6528816" y="3886200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11696" y="3822191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Referral program live (Day 30)</a:t>
            </a:r>
          </a:p>
        </p:txBody>
      </p:sp>
      <p:sp>
        <p:nvSpPr>
          <p:cNvPr id="38" name="Oval 37"/>
          <p:cNvSpPr/>
          <p:nvPr/>
        </p:nvSpPr>
        <p:spPr>
          <a:xfrm>
            <a:off x="6528816" y="4599432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11696" y="4535424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Wedding expos + hijab push</a:t>
            </a:r>
          </a:p>
        </p:txBody>
      </p:sp>
      <p:sp>
        <p:nvSpPr>
          <p:cNvPr id="40" name="Oval 39"/>
          <p:cNvSpPr/>
          <p:nvPr/>
        </p:nvSpPr>
        <p:spPr>
          <a:xfrm>
            <a:off x="6528816" y="5312664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5248656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B2B corporate + Leish+ pilot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34855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34855" y="1874519"/>
            <a:ext cx="2743200" cy="128016"/>
          </a:xfrm>
          <a:prstGeom prst="rect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63455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9492"/>
                </a:solidFill>
                <a:latin typeface="Calibri"/>
              </a:rPr>
              <a:t>PHASE 3 · 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Jan 2027</a:t>
            </a:r>
          </a:p>
        </p:txBody>
      </p:sp>
      <p:sp>
        <p:nvSpPr>
          <p:cNvPr id="46" name="Oval 45"/>
          <p:cNvSpPr/>
          <p:nvPr/>
        </p:nvSpPr>
        <p:spPr>
          <a:xfrm>
            <a:off x="9390887" y="3172968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73767" y="310896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Score vs Day-90 targets</a:t>
            </a:r>
          </a:p>
        </p:txBody>
      </p:sp>
      <p:sp>
        <p:nvSpPr>
          <p:cNvPr id="48" name="Oval 47"/>
          <p:cNvSpPr/>
          <p:nvPr/>
        </p:nvSpPr>
        <p:spPr>
          <a:xfrm>
            <a:off x="9390887" y="3886200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73767" y="3822191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Cohort/LTV analysis</a:t>
            </a:r>
          </a:p>
        </p:txBody>
      </p:sp>
      <p:sp>
        <p:nvSpPr>
          <p:cNvPr id="50" name="Oval 49"/>
          <p:cNvSpPr/>
          <p:nvPr/>
        </p:nvSpPr>
        <p:spPr>
          <a:xfrm>
            <a:off x="9390887" y="4599432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73767" y="4535424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Q1'27 plan + expansion cities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NORTH-STAR METRIC: COMPLETED BOOKINGS PER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Day-90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91440" cy="1234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11D48"/>
                </a:solidFill>
                <a:latin typeface="Georgia"/>
              </a:rPr>
              <a:t>1,500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Registered clients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8288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1828800"/>
            <a:ext cx="91440" cy="123444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DB2777"/>
                </a:solidFill>
                <a:latin typeface="Georgia"/>
              </a:rPr>
              <a:t>60+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606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Active artists &amp; studios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8288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1828800"/>
            <a:ext cx="91440" cy="1234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8B5CF6"/>
                </a:solidFill>
                <a:latin typeface="Georgia"/>
              </a:rPr>
              <a:t>25–30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606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Bookings / week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004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91440" cy="1234440"/>
          </a:xfrm>
          <a:prstGeom prst="rect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3649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9492"/>
                </a:solidFill>
                <a:latin typeface="Georgia"/>
              </a:rPr>
              <a:t>RM 7–9k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7763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GMV / week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32004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3200400"/>
            <a:ext cx="91440" cy="1234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1" y="33649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D97706"/>
                </a:solidFill>
                <a:latin typeface="Georgia"/>
              </a:rPr>
              <a:t>≤ RM 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1" y="397763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Client CAC (paid)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32004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0144" y="3200400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3" y="33649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7C3AED"/>
                </a:solidFill>
                <a:latin typeface="Georgia"/>
              </a:rPr>
              <a:t>2.5–3.5x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397763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Blended ROAS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48640" y="4892040"/>
          <a:ext cx="11082528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764792"/>
                <a:gridCol w="1764792"/>
                <a:gridCol w="1764792"/>
                <a:gridCol w="1764792"/>
              </a:tblGrid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Pre-launch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 30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 60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 90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Waitlist / clients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2,000 waitlist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Weekly bookings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25–30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Commission revenue / wk (20%)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RM 700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RM 1,200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RM 1,500–1,800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Email list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4,000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6,000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Social following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6,000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8,000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10,000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RM 96,000 ·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Budget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56231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Meta ads (IG + FB, incl. retargeting)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856231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29,000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11095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0" y="1911095"/>
            <a:ext cx="850392" cy="21945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78440" y="1856231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6829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Influencers / KOLs (2 waves, 16–18 creators)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368296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24,000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423160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0" y="2423160"/>
            <a:ext cx="708660" cy="219456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78440" y="2368296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Google Search + PMax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88036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12,000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935224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0" y="2935224"/>
            <a:ext cx="368503" cy="21945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78440" y="288036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13%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9242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Events — launch pop-up + wedding expos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392424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12,000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447288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3447288"/>
            <a:ext cx="368503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78440" y="339242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13%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0448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TikTok ads (Spark on creator content)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9044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6,000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3959352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06640" y="3959352"/>
            <a:ext cx="170078" cy="219456"/>
          </a:xfrm>
          <a:prstGeom prst="roundRect">
            <a:avLst>
              <a:gd name="adj" fmla="val 50000"/>
            </a:avLst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78440" y="39044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16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Artist acquisition (ads + webinar)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41655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6,000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4471416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06640" y="4471416"/>
            <a:ext cx="170078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78440" y="4416552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92861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Community / campus seeding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4928616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4,000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06640" y="4983480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06640" y="4983480"/>
            <a:ext cx="113385" cy="219456"/>
          </a:xfrm>
          <a:prstGeom prst="roundRect">
            <a:avLst>
              <a:gd name="adj" fmla="val 50000"/>
            </a:avLst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78440" y="4928616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4406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PR &amp; media kit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54406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3,000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06640" y="5495544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406640" y="5495544"/>
            <a:ext cx="85039" cy="219456"/>
          </a:xfrm>
          <a:prstGeom prst="roundRect">
            <a:avLst>
              <a:gd name="adj" fmla="val 50000"/>
            </a:avLst>
          </a:prstGeom>
          <a:solidFill>
            <a:srgbClr val="947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78440" y="544068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98932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Payback logic: 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blended CAC RM20 → client LTV RM 90–150 (2–3 bookings × RM 300 × 20%). CAC pays back in 1–2 bookings. Kill or scale by ROAS weekly — this is a growth test, not a burn.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CHANNEL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Owned · Paid · 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39312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39312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488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11D48"/>
                </a:solidFill>
                <a:latin typeface="Georgia"/>
              </a:rPr>
              <a:t>OWNED — foundation</a:t>
            </a:r>
          </a:p>
        </p:txBody>
      </p:sp>
      <p:sp>
        <p:nvSpPr>
          <p:cNvPr id="9" name="Oval 8"/>
          <p:cNvSpPr/>
          <p:nvPr/>
        </p:nvSpPr>
        <p:spPr>
          <a:xfrm>
            <a:off x="841247" y="2679192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60604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Instagram — 4–5 posts + 10 stories + 2 reels / wk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7" y="3246120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172968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TikTok — 3–4 UGC-style reels / wk</a:t>
            </a:r>
          </a:p>
        </p:txBody>
      </p:sp>
      <p:sp>
        <p:nvSpPr>
          <p:cNvPr id="13" name="Oval 12"/>
          <p:cNvSpPr/>
          <p:nvPr/>
        </p:nvSpPr>
        <p:spPr>
          <a:xfrm>
            <a:off x="841247" y="381304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739896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Facebook + bridal/beauty groups — daily participation</a:t>
            </a:r>
          </a:p>
        </p:txBody>
      </p:sp>
      <p:sp>
        <p:nvSpPr>
          <p:cNvPr id="15" name="Oval 14"/>
          <p:cNvSpPr/>
          <p:nvPr/>
        </p:nvSpPr>
        <p:spPr>
          <a:xfrm>
            <a:off x="841247" y="4379976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306824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Email (Brevo) — lifecycle sequences + 2 newsletters/mo</a:t>
            </a:r>
          </a:p>
        </p:txBody>
      </p:sp>
      <p:sp>
        <p:nvSpPr>
          <p:cNvPr id="17" name="Oval 16"/>
          <p:cNvSpPr/>
          <p:nvPr/>
        </p:nvSpPr>
        <p:spPr>
          <a:xfrm>
            <a:off x="841247" y="4946904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73752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WhatsApp API — confirmations, reminders, broadcasts</a:t>
            </a:r>
          </a:p>
        </p:txBody>
      </p:sp>
      <p:sp>
        <p:nvSpPr>
          <p:cNvPr id="19" name="Oval 18"/>
          <p:cNvSpPr/>
          <p:nvPr/>
        </p:nvSpPr>
        <p:spPr>
          <a:xfrm>
            <a:off x="841247" y="5513832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44068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SEO — 2 blogs/mo on /inspiration + /events</a:t>
            </a:r>
          </a:p>
        </p:txBody>
      </p:sp>
      <p:sp>
        <p:nvSpPr>
          <p:cNvPr id="21" name="Oval 20"/>
          <p:cNvSpPr/>
          <p:nvPr/>
        </p:nvSpPr>
        <p:spPr>
          <a:xfrm>
            <a:off x="841247" y="6080760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6007608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Artist share links — every artist recruits clients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5112" y="1828800"/>
            <a:ext cx="3639312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5112" y="1828800"/>
            <a:ext cx="3639312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1" y="21488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B2777"/>
                </a:solidFill>
                <a:latin typeface="Georgia"/>
              </a:rPr>
              <a:t>PAID — RM 47k</a:t>
            </a:r>
          </a:p>
        </p:txBody>
      </p:sp>
      <p:sp>
        <p:nvSpPr>
          <p:cNvPr id="26" name="Oval 25"/>
          <p:cNvSpPr/>
          <p:nvPr/>
        </p:nvSpPr>
        <p:spPr>
          <a:xfrm>
            <a:off x="4617720" y="2679192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260604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Meta (IG+FB) RM 24k — bridal/beauty interest stacks, KL-Selangor, 20–40</a:t>
            </a:r>
          </a:p>
        </p:txBody>
      </p:sp>
      <p:sp>
        <p:nvSpPr>
          <p:cNvPr id="28" name="Oval 27"/>
          <p:cNvSpPr/>
          <p:nvPr/>
        </p:nvSpPr>
        <p:spPr>
          <a:xfrm>
            <a:off x="4617720" y="3246120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3172968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Google RM 12k — high-intent: “bridal makeup KL”, “MUA near me”</a:t>
            </a:r>
          </a:p>
        </p:txBody>
      </p:sp>
      <p:sp>
        <p:nvSpPr>
          <p:cNvPr id="30" name="Oval 29"/>
          <p:cNvSpPr/>
          <p:nvPr/>
        </p:nvSpPr>
        <p:spPr>
          <a:xfrm>
            <a:off x="4617720" y="381304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739896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TikTok RM 6k — Spark Ads on creator content</a:t>
            </a:r>
          </a:p>
        </p:txBody>
      </p:sp>
      <p:sp>
        <p:nvSpPr>
          <p:cNvPr id="32" name="Oval 31"/>
          <p:cNvSpPr/>
          <p:nvPr/>
        </p:nvSpPr>
        <p:spPr>
          <a:xfrm>
            <a:off x="4617720" y="4379976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600" y="4306824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Retargeting RM 5k — visitors, waitlist &amp; cart abandoners, RM30 creative</a:t>
            </a:r>
          </a:p>
        </p:txBody>
      </p:sp>
      <p:sp>
        <p:nvSpPr>
          <p:cNvPr id="34" name="Oval 33"/>
          <p:cNvSpPr/>
          <p:nvPr/>
        </p:nvSpPr>
        <p:spPr>
          <a:xfrm>
            <a:off x="4617720" y="4946904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4873752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Artist-side ads — target working MUAs (“switch from DM chaos”)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1583" y="1828800"/>
            <a:ext cx="3639312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01583" y="1828800"/>
            <a:ext cx="3639312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21488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8B5CF6"/>
                </a:solidFill>
                <a:latin typeface="Georgia"/>
              </a:rPr>
              <a:t>EARNED + COMMUNITY — RM 43k</a:t>
            </a:r>
          </a:p>
        </p:txBody>
      </p:sp>
      <p:sp>
        <p:nvSpPr>
          <p:cNvPr id="39" name="Oval 38"/>
          <p:cNvSpPr/>
          <p:nvPr/>
        </p:nvSpPr>
        <p:spPr>
          <a:xfrm>
            <a:off x="8394192" y="2679192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77072" y="260604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2 KOL waves — 16–18 micro/mid creators, flat + booking-code commission</a:t>
            </a:r>
          </a:p>
        </p:txBody>
      </p:sp>
      <p:sp>
        <p:nvSpPr>
          <p:cNvPr id="41" name="Oval 40"/>
          <p:cNvSpPr/>
          <p:nvPr/>
        </p:nvSpPr>
        <p:spPr>
          <a:xfrm>
            <a:off x="8394192" y="3246120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77072" y="3172968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1–2 wedding expos + KL launch pop-up (glam bar)</a:t>
            </a:r>
          </a:p>
        </p:txBody>
      </p:sp>
      <p:sp>
        <p:nvSpPr>
          <p:cNvPr id="43" name="Oval 42"/>
          <p:cNvSpPr/>
          <p:nvPr/>
        </p:nvSpPr>
        <p:spPr>
          <a:xfrm>
            <a:off x="8394192" y="381304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77072" y="3739896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PR — SAYS, The Star, Malay Mail, NST, wedding blogs</a:t>
            </a:r>
          </a:p>
        </p:txBody>
      </p:sp>
      <p:sp>
        <p:nvSpPr>
          <p:cNvPr id="45" name="Oval 44"/>
          <p:cNvSpPr/>
          <p:nvPr/>
        </p:nvSpPr>
        <p:spPr>
          <a:xfrm>
            <a:off x="8394192" y="4379976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77072" y="4306824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Giveaways in bridal FB groups</a:t>
            </a:r>
          </a:p>
        </p:txBody>
      </p:sp>
      <p:sp>
        <p:nvSpPr>
          <p:cNvPr id="47" name="Oval 46"/>
          <p:cNvSpPr/>
          <p:nvPr/>
        </p:nvSpPr>
        <p:spPr>
          <a:xfrm>
            <a:off x="8394192" y="4946904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77072" y="4873752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Campus pop-ups — Cyberjaya (MMU, Limkokwing, UPM area)</a:t>
            </a:r>
          </a:p>
        </p:txBody>
      </p:sp>
      <p:sp>
        <p:nvSpPr>
          <p:cNvPr id="49" name="Oval 48"/>
          <p:cNvSpPr/>
          <p:nvPr/>
        </p:nvSpPr>
        <p:spPr>
          <a:xfrm>
            <a:off x="8394192" y="5513832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77072" y="544068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Free “grow your MUA business” webinar (Nov)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LOCK BEFORE DAY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Launch Offers &amp; Promotions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4023360"/>
          </a:xfrm>
          <a:prstGeom prst="roundRect">
            <a:avLst>
              <a:gd name="adj" fmla="val 5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864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11D48"/>
                </a:solidFill>
                <a:latin typeface="Calibri"/>
              </a:rPr>
              <a:t>CLIENT SIDE (DEMAND)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0604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1576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LEISH30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RM30 off first booking · cap 300 · valid to Day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61188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2160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Early-bird bonus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690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Waitlist members get RM30 + priority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61772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2744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Refer-a-friend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RM20 credit each · live from Day 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28800"/>
            <a:ext cx="5486400" cy="402336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828800"/>
            <a:ext cx="548640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1031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B5CF6"/>
                </a:solidFill>
                <a:latin typeface="Calibri"/>
              </a:rPr>
              <a:t>ARTIST SIDE (SUPPLY)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260604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71576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Free 3-month Pro listing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0632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Normally RM 200–500/mo · cap 50 artists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61188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72160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0% commission, first 10 bookings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0690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vs standard 20% · cap 30 artists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61772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472744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Artist referral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0749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RM100 + featured slot when referee hits 5 bookings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⚠ Pre-launch dev task: 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verify promo-code / credit support in admin. If unsupported, use UTM + support-issued credits and log a dev task before Aug 24.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FIRST 12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Content Calendar —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9167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920240"/>
                <a:gridCol w="4873752"/>
                <a:gridCol w="2743200"/>
              </a:tblGrid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 marL="91440" marR="91440" marT="18288" marB="18288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Theme</a:t>
                      </a:r>
                    </a:p>
                  </a:txBody>
                  <a:tcPr marL="91440" marR="91440" marT="18288" marB="18288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Hero content</a:t>
                      </a:r>
                    </a:p>
                  </a:txBody>
                  <a:tcPr marL="91440" marR="91440" marT="18288" marB="18288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Campaign</a:t>
                      </a:r>
                    </a:p>
                  </a:txBody>
                  <a:tcPr marL="91440" marR="91440" marT="18288" marB="18288" anchor="ctr">
                    <a:solidFill>
                      <a:srgbClr val="1F2937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W1 · Aug 10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Tease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Founder story reel — “Why we built Leish!”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Waitlist open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W2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Artist spotlight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“Meet the artist” carousels ×3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Artist recruitment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W3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Pain-point comedy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“POV: DM-ing 15 MUAs for your wedding date”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Waitlist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W4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Education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Bridal makeup cost guide KL 2026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Waitlist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Proof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Beta client before/after + testimonial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Waitlist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W6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Countdown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“Leish! launches Oct 5” series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Launch hype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W7 · Oct 5</a:t>
                      </a:r>
                    </a:p>
                  </a:txBody>
                  <a:tcPr marL="91440" marR="91440" marT="18288" marB="18288" anchor="ctr"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LAUNCH WEEK</a:t>
                      </a:r>
                    </a:p>
                  </a:txBody>
                  <a:tcPr marL="91440" marR="91440" marT="18288" marB="18288" anchor="ctr"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Event content, KOL posts, LEISH30 code</a:t>
                      </a:r>
                    </a:p>
                  </a:txBody>
                  <a:tcPr marL="91440" marR="91440" marT="18288" marB="18288" anchor="ctr"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DAY 0</a:t>
                      </a:r>
                    </a:p>
                  </a:txBody>
                  <a:tcPr marL="91440" marR="91440" marT="18288" marB="18288" anchor="ctr">
                    <a:solidFill>
                      <a:srgbClr val="E11D48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W8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Social proof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UGC roundup + first bookings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Post-launch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W9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Hijab series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Hijab MUA directory + looks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Community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W10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Wedding season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“Book your wedding MUA now” urgency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Paid push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W11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Referrals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Refer-a-friend launch creative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Referral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235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W12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Festive prep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CNY / Raya early-bird booking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Festive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Evergreen SEO (2/mo): 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“Best Bridal Makeup Artists in KL &amp; Selangor 2026” · “How Much Does Bridal Makeup Cost in Malaysia?” · “Hijab Makeup Looks for Weddings” · “10 Questions to Ask Your MUA”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WATCH WEEKLY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Risks &amp;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9167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640080"/>
                <a:gridCol w="640080"/>
                <a:gridCol w="6793992"/>
              </a:tblGrid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91440" marR="91440" marT="18288" marB="18288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91440" marR="91440" marT="18288" marB="18288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91440" marR="91440" marT="18288" marB="18288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91440" marR="91440" marT="18288" marB="18288" anchor="ctr">
                    <a:solidFill>
                      <a:srgbClr val="1F2937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Not enough artists at launch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Concierge recruitment from T-6; 30-artist gate — delay Day 0 if short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Demand lags supply (artists churn)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Weekly zero-booking check; demand ads + featured rotation; commission-free period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Checkout friction (Billplz)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Track booking_started→completed; A/B deposit vs full payment; WhatsApp assist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KOL underperformance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60/40 flat + booking commission; test 4 in wave 1 before wave-2 spend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Promo abuse (RM30 codes)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One code per account; cap 300; fraud flag on repeat emails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SEO ramp too slow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Content engine from Day 1; treat SEO as 6-month play; rely on paid + social at launch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Traffic spike / infra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Launch-ready ✅; load-test /artists + /bookings; UPSTASH Redis in prod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Guardrails: 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artists idle 14+ days · no-show/cancellation &lt;15% · artist response &lt;4 hrs · search→booking ≥2%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30-DAY LAUNCH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Owner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11095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Aug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892807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Confirm launch date + sign-off on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5973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Aug 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44144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Hire/assign marketing lead + content creator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0837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Aug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99008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Waitlist page live + RM30 offer configured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55701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Aug 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53872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GA4 + Meta events verified (10 events)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0565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Aug 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08736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Brevo sequences + UTM scheme live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5429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Sep 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63600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Media kit + press release drafted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2064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0293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Sep 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518464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KOL wave 1 contracted (8–12)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182880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1911095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Sep 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1892807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Launch pop-up venue + invite list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237744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245973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Sep 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44144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30 anchor artists recruited (gate!)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292608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300837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Sep 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99008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Paid campaigns live (test) → full Oct 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347472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355701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Oct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353872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DAY 0 — official launch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402336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410565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Nov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408736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Referral live · wedding expo booked · Day-30 review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457200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465429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Dec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463600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Leish+ pilot to top clients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35040" y="512064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35040" y="520293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Jan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518464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Day-90 review + Q1'27 plan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CLOSE BY AUG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Open Questions for the Founder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11095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4708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Confirm launch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39696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Oct 5, 2026 proposed — first Monday after Hari Malaysia week, peak wedding season.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87168"/>
            <a:ext cx="566928" cy="566928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69463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05456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Budget sign-off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798063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RM 96,000 / 90 days, drawn from seed runway per financial forecast.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145535"/>
            <a:ext cx="566928" cy="5669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27831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63823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Promo-code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56431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Does admin support codes/credits, or is a dev task needed before Aug 24?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803903"/>
            <a:ext cx="566928" cy="56692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199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22191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Marketing owner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14799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In-house hire vs agency vs founder-led with this plan as the ops doc — #1 dependency.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4462271"/>
            <a:ext cx="566928" cy="566928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44567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480559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Brand assets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73167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IG/TikTok/FB handles (@leish.my?), logo kit, press photos.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120639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202935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138927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Leish+ timing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43153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Keep RM29/mo pilot internal for 90 days; public in Q1'27 (recommended).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5779007"/>
            <a:ext cx="566928" cy="566928"/>
          </a:xfrm>
          <a:prstGeom prst="ellipse">
            <a:avLst/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861303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797295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Legal &amp; 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6089903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PDPA consent on waitlist capture + contest T&amp;Cs before any giveaway.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WEEKLY DASHBOARD, EVERY MONDAY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Measurement &amp;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EVENTS TO VERIFY (GA4 + META)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69464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Consolas"/>
              </a:rPr>
              <a:t>waitlist_signup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830068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7520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Consolas"/>
              </a:rPr>
              <a:t>sign_up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090672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Consolas"/>
              </a:rPr>
              <a:t>search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351276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2964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Consolas"/>
              </a:rPr>
              <a:t>view_artist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611880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55701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Consolas"/>
              </a:rPr>
              <a:t>booking_started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872484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8176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Consolas"/>
              </a:rPr>
              <a:t>booking_completed (value = booking value)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133088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Consolas"/>
              </a:rPr>
              <a:t>payment_success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393692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3882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Consolas"/>
              </a:rPr>
              <a:t>artist_application_started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654296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5994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Consolas"/>
              </a:rPr>
              <a:t>share_link_clicked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182880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1031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WEEKLY DASHBOARD SECTIONS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2569464"/>
            <a:ext cx="73152" cy="7315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251460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Growth — waitlist, signups, artists, bookings, GMV, commission</a:t>
            </a:r>
          </a:p>
        </p:txBody>
      </p:sp>
      <p:sp>
        <p:nvSpPr>
          <p:cNvPr id="30" name="Oval 29"/>
          <p:cNvSpPr/>
          <p:nvPr/>
        </p:nvSpPr>
        <p:spPr>
          <a:xfrm>
            <a:off x="6537960" y="3044952"/>
            <a:ext cx="73152" cy="7315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2990088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Funnel — search → artist view → booking_start → complete</a:t>
            </a:r>
          </a:p>
        </p:txBody>
      </p:sp>
      <p:sp>
        <p:nvSpPr>
          <p:cNvPr id="32" name="Oval 31"/>
          <p:cNvSpPr/>
          <p:nvPr/>
        </p:nvSpPr>
        <p:spPr>
          <a:xfrm>
            <a:off x="6537960" y="3520440"/>
            <a:ext cx="73152" cy="7315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3465576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Paid — spend, ROAS, CAC, CPM/CPC by channel</a:t>
            </a:r>
          </a:p>
        </p:txBody>
      </p:sp>
      <p:sp>
        <p:nvSpPr>
          <p:cNvPr id="34" name="Oval 33"/>
          <p:cNvSpPr/>
          <p:nvPr/>
        </p:nvSpPr>
        <p:spPr>
          <a:xfrm>
            <a:off x="6537960" y="3995928"/>
            <a:ext cx="73152" cy="7315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3941064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Quality — no-show, cancellation, avg rating, repeat rate</a:t>
            </a:r>
          </a:p>
        </p:txBody>
      </p:sp>
      <p:sp>
        <p:nvSpPr>
          <p:cNvPr id="36" name="Oval 35"/>
          <p:cNvSpPr/>
          <p:nvPr/>
        </p:nvSpPr>
        <p:spPr>
          <a:xfrm>
            <a:off x="6537960" y="4471416"/>
            <a:ext cx="73152" cy="7315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4416552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Content — email list, opens/clicks, reach, top posts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12064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7280"/>
                </a:solidFill>
                <a:latin typeface="Calibri"/>
              </a:rPr>
              <a:t>ATTRIBUTION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UTM on every outbound link — source / medium / campaign / term / content (scheme in plan Appendix C). Capture source at signup. Report: bookings &amp; CAC by channel.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12648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114808590800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554480"/>
            <a:ext cx="3931920" cy="3931920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371600" y="4754880"/>
            <a:ext cx="3566160" cy="356616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FFFFFF"/>
                </a:solidFill>
                <a:latin typeface="Georgia"/>
              </a:rPr>
              <a:t>Ready to glow.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A3AF"/>
                </a:solidFill>
                <a:latin typeface="Calibri"/>
              </a:rPr>
              <a:t>Full plan: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docs/launch-marketing-plan.md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   ·   Summary: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docs/launch-marketing-plan-summary.md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11D48"/>
                </a:solidFill>
                <a:latin typeface="Calibri"/>
              </a:rPr>
              <a:t>Next step: 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close the 7 blockers by Aug 10, then execute the 30-day checklist.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9CA3AF"/>
                </a:solidFill>
                <a:latin typeface="Calibri"/>
              </a:rPr>
              <a:t>#BookBeautyAnywhere  ·  #NeverDMForADate  ·  Your Beauty, Perfected.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-1737360"/>
            <a:ext cx="4206240" cy="4206240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B2777"/>
                </a:solidFill>
                <a:latin typeface="Calibri"/>
              </a:rPr>
              <a:t>TIER 2 · MEDIUM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Georgia"/>
              </a:rPr>
              <a:t>RM 40,000 — lean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A3AF"/>
                </a:solidFill>
                <a:latin typeface="Calibri"/>
              </a:rPr>
              <a:t>Same launch date · same campaign · scaled execution — see docs/launch-marketing-plan-tiers.md for the comparison.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CA3AF"/>
                </a:solidFill>
                <a:latin typeface="Calibri"/>
              </a:rPr>
              <a:t>#BookBeautyAnywhere  ·  #NeverDMForADate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1148085908000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554480"/>
            <a:ext cx="3931920" cy="3931920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371600" y="4754880"/>
            <a:ext cx="3566160" cy="356616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LEISH.MY · LAUNCH MARKETING PLAN · 90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Medium Budget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9CA3AF"/>
                </a:solidFill>
                <a:latin typeface="Calibri"/>
              </a:rPr>
              <a:t>Never DM for a Date Again. — official launch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October 5,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611880"/>
            <a:ext cx="3291840" cy="105156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67328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CA3AF"/>
                </a:solidFill>
                <a:latin typeface="Calibri"/>
              </a:rPr>
              <a:t>TOTAL BUDGET</a:t>
            </a:r>
          </a:p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RM 40,000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611880"/>
            <a:ext cx="3749039" cy="105156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767328"/>
            <a:ext cx="3383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CA3AF"/>
                </a:solidFill>
                <a:latin typeface="Calibri"/>
              </a:rPr>
              <a:t>DAY-90 HEADLINE</a:t>
            </a:r>
          </a:p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800 clients · 40–45 artists · 15–20 bookings/wk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611880"/>
            <a:ext cx="3291840" cy="105156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767328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CA3AF"/>
                </a:solidFill>
                <a:latin typeface="Calibri"/>
              </a:rPr>
              <a:t>LAUNCH DATE</a:t>
            </a:r>
          </a:p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Oct 5,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CA3AF"/>
                </a:solidFill>
                <a:latin typeface="Calibri"/>
              </a:rPr>
              <a:t>Founder + one part-time marketer. Co-hosted pop-up launch, one micro-KOL wave, Meta + narrow Google. Lean execution, same wedding-season timing.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The Play — Medium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3886200"/>
          </a:xfrm>
          <a:prstGeom prst="roundRect">
            <a:avLst>
              <a:gd name="adj" fmla="val 6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6616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Lean paid, high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Meta RM 12k + Google RM 4k (brand + top-10 keywords). No TikTok ads. Retargeting gets 20% of Meta budget. Every ad set gated at 2x ROAS after 2 weeks.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828800"/>
            <a:ext cx="3566160" cy="3886200"/>
          </a:xfrm>
          <a:prstGeom prst="roundRect">
            <a:avLst>
              <a:gd name="adj" fmla="val 6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828800"/>
            <a:ext cx="3566160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2240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B2777"/>
                </a:solidFill>
                <a:latin typeface="Calibri"/>
              </a:rPr>
              <a:t>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6060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Co-hosted pop-up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Partner studios host the venue; Leish! brings booking tech + offers. One wedding expo OR pop-up — decide by lead-cost projection by Sep 15.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828800"/>
            <a:ext cx="3566160" cy="38862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828800"/>
            <a:ext cx="356616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GROWTH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6060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Commission-heavy KOLs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6–8 micro creators (10k–50k), 50% flat / 50% booking-code commission (10% of GMV) so they self-motivate. One wave, then referral program from Day 30.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989320"/>
            <a:ext cx="11091672" cy="384048"/>
          </a:xfrm>
          <a:prstGeom prst="roundRect">
            <a:avLst>
              <a:gd name="adj" fmla="val 50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1091672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DB2777"/>
                </a:solidFill>
                <a:latin typeface="Calibri"/>
              </a:rPr>
              <a:t>Artist gate before Day 0: 25 bookable artists by Sep 28 · Campaign: Never DM for a date again · Hero categories: Bridal · Hijab · Event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RM 40,000 ·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Budget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56231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Meta ads (IG + FB, incl. 20% retargeting)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856231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12,000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11095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0" y="1911095"/>
            <a:ext cx="850392" cy="21945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78440" y="1856231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6829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KOLs — 1 wave, 6–8 micro (10k–50k)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368296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10,000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423160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0" y="2423160"/>
            <a:ext cx="708660" cy="219456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78440" y="2368296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Events — 1 co-hosted pop-up OR 1 wedding expo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88036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6,000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935224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0" y="2935224"/>
            <a:ext cx="425196" cy="21945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78440" y="288036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9242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Google Search (brand + top-10 keywords)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392424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4,000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447288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3447288"/>
            <a:ext cx="283464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78440" y="339242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0448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Community / campus seeding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9044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3,000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3959352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06640" y="3959352"/>
            <a:ext cx="212598" cy="219456"/>
          </a:xfrm>
          <a:prstGeom prst="roundRect">
            <a:avLst>
              <a:gd name="adj" fmla="val 50000"/>
            </a:avLst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78440" y="39044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16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Artist acquisition (concierge + referral)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41655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3,000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4471416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06640" y="4471416"/>
            <a:ext cx="212598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78440" y="4416552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92861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PR (direct pitching), design &amp;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4928616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2,000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06640" y="4983480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06640" y="4983480"/>
            <a:ext cx="141732" cy="219456"/>
          </a:xfrm>
          <a:prstGeom prst="roundRect">
            <a:avLst>
              <a:gd name="adj" fmla="val 50000"/>
            </a:avLst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78440" y="4928616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80644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Payback logic: 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CAC ≤ RM 25 → client LTV RM 90–150 (2–3 bookings × RM 300 × 20%). Payback in 1–2 bookings; ROAS gate ≥ 2.5x.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NORTH-STAR METRIC: COMPLETED BOOKINGS PER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Day-90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91440" cy="1234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E11D48"/>
                </a:solidFill>
                <a:latin typeface="Georgia"/>
              </a:rPr>
              <a:t>800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Registered clients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8288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1828800"/>
            <a:ext cx="91440" cy="123444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DB2777"/>
                </a:solidFill>
                <a:latin typeface="Georgia"/>
              </a:rPr>
              <a:t>40–45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606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Active artists &amp; studios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8288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1828800"/>
            <a:ext cx="91440" cy="1234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8B5CF6"/>
                </a:solidFill>
                <a:latin typeface="Georgia"/>
              </a:rPr>
              <a:t>15–20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606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Bookings / week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004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91440" cy="1234440"/>
          </a:xfrm>
          <a:prstGeom prst="rect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3649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E9492"/>
                </a:solidFill>
                <a:latin typeface="Georgia"/>
              </a:rPr>
              <a:t>RM 4.5–6k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7763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GMV / week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32004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3200400"/>
            <a:ext cx="91440" cy="1234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1" y="33649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D97706"/>
                </a:solidFill>
                <a:latin typeface="Georgia"/>
              </a:rPr>
              <a:t>≤ RM 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1" y="397763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Client CAC (paid)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32004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0144" y="3200400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3" y="33649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7C3AED"/>
                </a:solidFill>
                <a:latin typeface="Georgia"/>
              </a:rPr>
              <a:t>≥ 2.5x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397763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Blended ROAS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66344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PROGRESSION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48640" y="4983480"/>
          <a:ext cx="11082528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764792"/>
                <a:gridCol w="1764792"/>
                <a:gridCol w="1764792"/>
                <a:gridCol w="1764792"/>
              </a:tblGrid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Pre-launch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 30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 60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 90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Waitlist / clients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1,000 waitlist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550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Weekly bookings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6–8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15–20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Commission / wk (20%)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RM 400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RM 700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RM 900–1,200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Email list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2,000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Social following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3,800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Four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27432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11D48"/>
                </a:solidFill>
                <a:latin typeface="Calibri"/>
              </a:rPr>
              <a:t>PHASE 0 · PRE-LAUNCH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7280"/>
                </a:solidFill>
                <a:latin typeface="Calibri"/>
              </a:rPr>
              <a:t>Aug 10 – Oct 4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17296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10896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Green-light Aug 10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90448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8404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Waitlist live Aug 31 (RM30 offer)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63600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57200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25 anchor artists, concierge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536752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30352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Teaser content 2x/wk</a:t>
            </a:r>
          </a:p>
        </p:txBody>
      </p:sp>
      <p:sp>
        <p:nvSpPr>
          <p:cNvPr id="18" name="Oval 17"/>
          <p:cNvSpPr/>
          <p:nvPr/>
        </p:nvSpPr>
        <p:spPr>
          <a:xfrm>
            <a:off x="804672" y="609904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603504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KOLs contracted by Sep 21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683056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6766559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Paid test Sep 28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10712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10712" y="1874519"/>
            <a:ext cx="2743200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9312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B2777"/>
                </a:solidFill>
                <a:latin typeface="Calibri"/>
              </a:rPr>
              <a:t>PHASE 1 · LAUNCH 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9312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7280"/>
                </a:solidFill>
                <a:latin typeface="Calibri"/>
              </a:rPr>
              <a:t>Oct 5 – 11</a:t>
            </a:r>
          </a:p>
        </p:txBody>
      </p:sp>
      <p:sp>
        <p:nvSpPr>
          <p:cNvPr id="26" name="Oval 25"/>
          <p:cNvSpPr/>
          <p:nvPr/>
        </p:nvSpPr>
        <p:spPr>
          <a:xfrm>
            <a:off x="3666744" y="317296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9624" y="310896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Co-hosted pop-up with partner studios</a:t>
            </a:r>
          </a:p>
        </p:txBody>
      </p:sp>
      <p:sp>
        <p:nvSpPr>
          <p:cNvPr id="28" name="Oval 27"/>
          <p:cNvSpPr/>
          <p:nvPr/>
        </p:nvSpPr>
        <p:spPr>
          <a:xfrm>
            <a:off x="3666744" y="390448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9624" y="38404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6–8 micro KOLs post</a:t>
            </a:r>
          </a:p>
        </p:txBody>
      </p:sp>
      <p:sp>
        <p:nvSpPr>
          <p:cNvPr id="30" name="Oval 29"/>
          <p:cNvSpPr/>
          <p:nvPr/>
        </p:nvSpPr>
        <p:spPr>
          <a:xfrm>
            <a:off x="3666744" y="463600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9624" y="457200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Direct-journalist PR pitch</a:t>
            </a:r>
          </a:p>
        </p:txBody>
      </p:sp>
      <p:sp>
        <p:nvSpPr>
          <p:cNvPr id="32" name="Oval 31"/>
          <p:cNvSpPr/>
          <p:nvPr/>
        </p:nvSpPr>
        <p:spPr>
          <a:xfrm>
            <a:off x="3666744" y="536752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9624" y="530352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Meta + Google full ON</a:t>
            </a:r>
          </a:p>
        </p:txBody>
      </p:sp>
      <p:sp>
        <p:nvSpPr>
          <p:cNvPr id="34" name="Oval 33"/>
          <p:cNvSpPr/>
          <p:nvPr/>
        </p:nvSpPr>
        <p:spPr>
          <a:xfrm>
            <a:off x="3666744" y="609904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9624" y="603504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LEISH30 live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72783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72783" y="1874519"/>
            <a:ext cx="274320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01383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8B5CF6"/>
                </a:solidFill>
                <a:latin typeface="Calibri"/>
              </a:rPr>
              <a:t>PHASE 2 · WEDDING SEASON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01383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7280"/>
                </a:solidFill>
                <a:latin typeface="Calibri"/>
              </a:rPr>
              <a:t>Oct 12 – Dec 31</a:t>
            </a:r>
          </a:p>
        </p:txBody>
      </p:sp>
      <p:sp>
        <p:nvSpPr>
          <p:cNvPr id="40" name="Oval 39"/>
          <p:cNvSpPr/>
          <p:nvPr/>
        </p:nvSpPr>
        <p:spPr>
          <a:xfrm>
            <a:off x="6528816" y="317296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310896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Referral program Day 30 (RM15/RM15)</a:t>
            </a:r>
          </a:p>
        </p:txBody>
      </p:sp>
      <p:sp>
        <p:nvSpPr>
          <p:cNvPr id="42" name="Oval 41"/>
          <p:cNvSpPr/>
          <p:nvPr/>
        </p:nvSpPr>
        <p:spPr>
          <a:xfrm>
            <a:off x="6528816" y="390448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11696" y="38404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1 expo booth OR 2 campus pop-ups</a:t>
            </a:r>
          </a:p>
        </p:txBody>
      </p:sp>
      <p:sp>
        <p:nvSpPr>
          <p:cNvPr id="44" name="Oval 43"/>
          <p:cNvSpPr/>
          <p:nvPr/>
        </p:nvSpPr>
        <p:spPr>
          <a:xfrm>
            <a:off x="6528816" y="463600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11696" y="457200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Hijab community push (Nov)</a:t>
            </a:r>
          </a:p>
        </p:txBody>
      </p:sp>
      <p:sp>
        <p:nvSpPr>
          <p:cNvPr id="46" name="Oval 45"/>
          <p:cNvSpPr/>
          <p:nvPr/>
        </p:nvSpPr>
        <p:spPr>
          <a:xfrm>
            <a:off x="6528816" y="536752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1696" y="530352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B2B light — 2–3 pitches</a:t>
            </a:r>
          </a:p>
        </p:txBody>
      </p:sp>
      <p:sp>
        <p:nvSpPr>
          <p:cNvPr id="48" name="Oval 47"/>
          <p:cNvSpPr/>
          <p:nvPr/>
        </p:nvSpPr>
        <p:spPr>
          <a:xfrm>
            <a:off x="6528816" y="609904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11696" y="603504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1 blog/mo SEO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34855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34855" y="1874519"/>
            <a:ext cx="2743200" cy="128016"/>
          </a:xfrm>
          <a:prstGeom prst="rect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63455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9492"/>
                </a:solidFill>
                <a:latin typeface="Calibri"/>
              </a:rPr>
              <a:t>PHASE 3 · REVIEW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63455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7280"/>
                </a:solidFill>
                <a:latin typeface="Calibri"/>
              </a:rPr>
              <a:t>Jan 2027</a:t>
            </a:r>
          </a:p>
        </p:txBody>
      </p:sp>
      <p:sp>
        <p:nvSpPr>
          <p:cNvPr id="54" name="Oval 53"/>
          <p:cNvSpPr/>
          <p:nvPr/>
        </p:nvSpPr>
        <p:spPr>
          <a:xfrm>
            <a:off x="9390887" y="3172968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73767" y="310896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Score vs Day-90 targets</a:t>
            </a:r>
          </a:p>
        </p:txBody>
      </p:sp>
      <p:sp>
        <p:nvSpPr>
          <p:cNvPr id="56" name="Oval 55"/>
          <p:cNvSpPr/>
          <p:nvPr/>
        </p:nvSpPr>
        <p:spPr>
          <a:xfrm>
            <a:off x="9390887" y="3904488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73767" y="38404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≥12 bookings/wk + CAC ≤ RM 25 →</a:t>
            </a:r>
          </a:p>
        </p:txBody>
      </p:sp>
      <p:sp>
        <p:nvSpPr>
          <p:cNvPr id="58" name="Oval 57"/>
          <p:cNvSpPr/>
          <p:nvPr/>
        </p:nvSpPr>
        <p:spPr>
          <a:xfrm>
            <a:off x="9390887" y="4636008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73767" y="457200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upgrade to High for CNY</a:t>
            </a:r>
          </a:p>
        </p:txBody>
      </p:sp>
      <p:sp>
        <p:nvSpPr>
          <p:cNvPr id="60" name="Oval 59"/>
          <p:cNvSpPr/>
          <p:nvPr/>
        </p:nvSpPr>
        <p:spPr>
          <a:xfrm>
            <a:off x="9390887" y="5367528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73767" y="530352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else fix or downgrade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CHANNEL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Owned · Paid · 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39312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39312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488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11D48"/>
                </a:solidFill>
                <a:latin typeface="Georgia"/>
              </a:rPr>
              <a:t>OWNED — FOUNDATION</a:t>
            </a:r>
          </a:p>
        </p:txBody>
      </p:sp>
      <p:sp>
        <p:nvSpPr>
          <p:cNvPr id="9" name="Oval 8"/>
          <p:cNvSpPr/>
          <p:nvPr/>
        </p:nvSpPr>
        <p:spPr>
          <a:xfrm>
            <a:off x="841247" y="2679192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60604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IG — 3–4 posts + 7 stories + 1 reel / wk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7" y="326440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191256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TikTok — 2 reels / wk (repurposed)</a:t>
            </a:r>
          </a:p>
        </p:txBody>
      </p:sp>
      <p:sp>
        <p:nvSpPr>
          <p:cNvPr id="13" name="Oval 12"/>
          <p:cNvSpPr/>
          <p:nvPr/>
        </p:nvSpPr>
        <p:spPr>
          <a:xfrm>
            <a:off x="841247" y="3849624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776472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FB + bridal/beauty groups — daily</a:t>
            </a:r>
          </a:p>
        </p:txBody>
      </p:sp>
      <p:sp>
        <p:nvSpPr>
          <p:cNvPr id="15" name="Oval 14"/>
          <p:cNvSpPr/>
          <p:nvPr/>
        </p:nvSpPr>
        <p:spPr>
          <a:xfrm>
            <a:off x="841247" y="4434840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361688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Email (Brevo) — sequence + 1 newsletter/mo</a:t>
            </a:r>
          </a:p>
        </p:txBody>
      </p:sp>
      <p:sp>
        <p:nvSpPr>
          <p:cNvPr id="17" name="Oval 16"/>
          <p:cNvSpPr/>
          <p:nvPr/>
        </p:nvSpPr>
        <p:spPr>
          <a:xfrm>
            <a:off x="841247" y="5020055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946903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WhatsApp — confirmations + monthly broadcast</a:t>
            </a:r>
          </a:p>
        </p:txBody>
      </p:sp>
      <p:sp>
        <p:nvSpPr>
          <p:cNvPr id="19" name="Oval 18"/>
          <p:cNvSpPr/>
          <p:nvPr/>
        </p:nvSpPr>
        <p:spPr>
          <a:xfrm>
            <a:off x="841247" y="5605271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532119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SEO — 1 blog/mo on /inspiration + /events</a:t>
            </a:r>
          </a:p>
        </p:txBody>
      </p:sp>
      <p:sp>
        <p:nvSpPr>
          <p:cNvPr id="21" name="Oval 20"/>
          <p:cNvSpPr/>
          <p:nvPr/>
        </p:nvSpPr>
        <p:spPr>
          <a:xfrm>
            <a:off x="841247" y="6190487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6117335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Artist share links — always-on loop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5112" y="1828800"/>
            <a:ext cx="3639312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5112" y="1828800"/>
            <a:ext cx="3639312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1" y="21488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B2777"/>
                </a:solidFill>
                <a:latin typeface="Georgia"/>
              </a:rPr>
              <a:t>PAID — RM 16K</a:t>
            </a:r>
          </a:p>
        </p:txBody>
      </p:sp>
      <p:sp>
        <p:nvSpPr>
          <p:cNvPr id="26" name="Oval 25"/>
          <p:cNvSpPr/>
          <p:nvPr/>
        </p:nvSpPr>
        <p:spPr>
          <a:xfrm>
            <a:off x="4617720" y="2679192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260604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Meta RM 12k — bridal/beauty stacks, KL-Selangor, 20–40</a:t>
            </a:r>
          </a:p>
        </p:txBody>
      </p:sp>
      <p:sp>
        <p:nvSpPr>
          <p:cNvPr id="28" name="Oval 27"/>
          <p:cNvSpPr/>
          <p:nvPr/>
        </p:nvSpPr>
        <p:spPr>
          <a:xfrm>
            <a:off x="4617720" y="326440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3191256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Retargeting = 20% of Meta budget</a:t>
            </a:r>
          </a:p>
        </p:txBody>
      </p:sp>
      <p:sp>
        <p:nvSpPr>
          <p:cNvPr id="30" name="Oval 29"/>
          <p:cNvSpPr/>
          <p:nvPr/>
        </p:nvSpPr>
        <p:spPr>
          <a:xfrm>
            <a:off x="4617720" y="3849624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776472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Google RM 4k — brand + top-10 high-intent keywords</a:t>
            </a:r>
          </a:p>
        </p:txBody>
      </p:sp>
      <p:sp>
        <p:nvSpPr>
          <p:cNvPr id="32" name="Oval 31"/>
          <p:cNvSpPr/>
          <p:nvPr/>
        </p:nvSpPr>
        <p:spPr>
          <a:xfrm>
            <a:off x="4617720" y="4434840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600" y="4361688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No TikTok ads at this tier</a:t>
            </a:r>
          </a:p>
        </p:txBody>
      </p:sp>
      <p:sp>
        <p:nvSpPr>
          <p:cNvPr id="34" name="Oval 33"/>
          <p:cNvSpPr/>
          <p:nvPr/>
        </p:nvSpPr>
        <p:spPr>
          <a:xfrm>
            <a:off x="4617720" y="5020055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4946903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Kill any ad set &lt;2x ROAS after 2 weeks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1583" y="1828800"/>
            <a:ext cx="3639312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01583" y="1828800"/>
            <a:ext cx="3639312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21488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8B5CF6"/>
                </a:solidFill>
                <a:latin typeface="Georgia"/>
              </a:rPr>
              <a:t>EARNED + COMMUNITY — RM 19K</a:t>
            </a:r>
          </a:p>
        </p:txBody>
      </p:sp>
      <p:sp>
        <p:nvSpPr>
          <p:cNvPr id="39" name="Oval 38"/>
          <p:cNvSpPr/>
          <p:nvPr/>
        </p:nvSpPr>
        <p:spPr>
          <a:xfrm>
            <a:off x="8394192" y="2679192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77072" y="260604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6–8 micro KOLs — 50/50 flat + booking commission</a:t>
            </a:r>
          </a:p>
        </p:txBody>
      </p:sp>
      <p:sp>
        <p:nvSpPr>
          <p:cNvPr id="41" name="Oval 40"/>
          <p:cNvSpPr/>
          <p:nvPr/>
        </p:nvSpPr>
        <p:spPr>
          <a:xfrm>
            <a:off x="8394192" y="326440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77072" y="3191256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1 co-hosted pop-up OR 1 wedding expo</a:t>
            </a:r>
          </a:p>
        </p:txBody>
      </p:sp>
      <p:sp>
        <p:nvSpPr>
          <p:cNvPr id="43" name="Oval 42"/>
          <p:cNvSpPr/>
          <p:nvPr/>
        </p:nvSpPr>
        <p:spPr>
          <a:xfrm>
            <a:off x="8394192" y="3849624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77072" y="3776472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2 campus pop-ups — Cyberjaya (MMU, Limkokwing)</a:t>
            </a:r>
          </a:p>
        </p:txBody>
      </p:sp>
      <p:sp>
        <p:nvSpPr>
          <p:cNvPr id="45" name="Oval 44"/>
          <p:cNvSpPr/>
          <p:nvPr/>
        </p:nvSpPr>
        <p:spPr>
          <a:xfrm>
            <a:off x="8394192" y="4434840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77072" y="4361688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Direct PR pitch — SAYS, The Star, Malay Mail</a:t>
            </a:r>
          </a:p>
        </p:txBody>
      </p:sp>
      <p:sp>
        <p:nvSpPr>
          <p:cNvPr id="47" name="Oval 46"/>
          <p:cNvSpPr/>
          <p:nvPr/>
        </p:nvSpPr>
        <p:spPr>
          <a:xfrm>
            <a:off x="8394192" y="5020055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77072" y="4946903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Bridal FB group giveaways (RM 500)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LOCK BEFORE DAY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Launch Offers &amp; Promotions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3931920"/>
          </a:xfrm>
          <a:prstGeom prst="roundRect">
            <a:avLst>
              <a:gd name="adj" fmla="val 5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864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11D48"/>
                </a:solidFill>
                <a:latin typeface="Calibri"/>
              </a:rPr>
              <a:t>CLIENT SIDE (DEMAND)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0604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1576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LEISH30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RM30 off first booking · cap 150 · valid to Day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593592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Early-bird bonus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50791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Waitlist members get RM30 + priority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581144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9087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Refer-a-friend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3834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RM15 credit each · live from Day 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28800"/>
            <a:ext cx="5486400" cy="393192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828800"/>
            <a:ext cx="548640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1031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B5CF6"/>
                </a:solidFill>
                <a:latin typeface="Calibri"/>
              </a:rPr>
              <a:t>ARTIST SIDE (SUPPLY)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260604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71576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Free 3-month Pro listing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0632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Normally RM 200–500/mo · cap 30 artists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593592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70332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0% commission, first 10 bookings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050791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vs standard 20% · cap 20 artists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581144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469087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Artist referral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03834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RM100 + featured slot on referee's 5th booking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⚠ Pre-launch dev task: verify promo-code / credit support in admin before Aug 24 (same as High tier).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WATCH WEEKLY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Risks &amp;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Small team = content slippage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828800"/>
            <a:ext cx="7543800" cy="868680"/>
          </a:xfrm>
          <a:prstGeom prst="roundRect">
            <a:avLst>
              <a:gd name="adj" fmla="val 9000"/>
            </a:avLst>
          </a:prstGeom>
          <a:solidFill>
            <a:srgbClr val="FA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938528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Batch content weekly (2 blocks/wk); templates; outsource design per-asset.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16352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35224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Only 1 KOL wave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2816352"/>
            <a:ext cx="7543800" cy="868680"/>
          </a:xfrm>
          <a:prstGeom prst="roundRect">
            <a:avLst>
              <a:gd name="adj" fmla="val 9000"/>
            </a:avLst>
          </a:prstGeom>
          <a:solidFill>
            <a:srgbClr val="FA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926080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Commission-heavy 50/50 deals; secure 2-month UGC rights in contracts.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03904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22776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Thin paid budget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3803904"/>
            <a:ext cx="7543800" cy="868680"/>
          </a:xfrm>
          <a:prstGeom prst="roundRect">
            <a:avLst>
              <a:gd name="adj" fmla="val 9000"/>
            </a:avLst>
          </a:prstGeom>
          <a:solidFill>
            <a:srgbClr val="FA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3913632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Kill &lt;2x ROAS ad sets after 2 weeks; 20% of Meta budget to retargeting.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91456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1032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Artist gate not met (25)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4791456"/>
            <a:ext cx="7543800" cy="868680"/>
          </a:xfrm>
          <a:prstGeom prst="roundRect">
            <a:avLst>
              <a:gd name="adj" fmla="val 9000"/>
            </a:avLst>
          </a:prstGeom>
          <a:solidFill>
            <a:srgbClr val="FA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4901184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Start concierge Aug 31; fallback: extend free Pro to 6 months.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79008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89788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Pop-up vs expo choice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5779008"/>
            <a:ext cx="7543800" cy="868680"/>
          </a:xfrm>
          <a:prstGeom prst="roundRect">
            <a:avLst>
              <a:gd name="adj" fmla="val 9000"/>
            </a:avLst>
          </a:prstGeom>
          <a:solidFill>
            <a:srgbClr val="FA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5888736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Decide by lead-cost projection; book by Sep 15.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Guardrails: 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artists idle 14+ days · no-show &lt;15% · artist response &lt;4 hrs · search→booking ≥2%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OWNER CHECKLIST + UPGRADE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Execute · Measure · Decide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B2777"/>
                </a:solidFill>
                <a:latin typeface="Calibri"/>
              </a:rPr>
              <a:t>30-DAY CHECKLIST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Aug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15798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Confirm date + 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24327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97479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Aug 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679191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Part-time marketer hired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45535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18687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Aug 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200399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Waitlist + RM30 offer live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66744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39896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Sep 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721607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KOL wave contracted (6–8)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87952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61104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Sep 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24281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25 anchor artists (gate!)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09160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782312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Oct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DAY 0 — launch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16916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UPGRADE / DOWNGRADE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103120"/>
            <a:ext cx="1371600" cy="4572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176272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Upgrade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148839"/>
            <a:ext cx="39776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Day-60: ≥12 bookings/wk + CAC ≤ RM 25 + artist retention ≥ 80% → scale to High (RM 96k) for CNY season.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2624327"/>
            <a:ext cx="1371600" cy="45720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697479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Downgrade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670047"/>
            <a:ext cx="39776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Day-30: paid CAC &gt; RM 35 → cut Google + half of Meta; shift to community channels.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120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REMAINING CHECKLIST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5486400"/>
            <a:ext cx="1234440" cy="384048"/>
          </a:xfrm>
          <a:prstGeom prst="roundRect">
            <a:avLst>
              <a:gd name="adj" fmla="val 25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5532120"/>
            <a:ext cx="1234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Nov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55321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Referral live · Day-30 review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5907024"/>
            <a:ext cx="1234440" cy="384048"/>
          </a:xfrm>
          <a:prstGeom prst="roundRect">
            <a:avLst>
              <a:gd name="adj" fmla="val 25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5952744"/>
            <a:ext cx="1234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Dec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595274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Day-60 checkpoint → upgrade decision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6327648"/>
            <a:ext cx="1234440" cy="384048"/>
          </a:xfrm>
          <a:prstGeom prst="roundRect">
            <a:avLst>
              <a:gd name="adj" fmla="val 25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6373368"/>
            <a:ext cx="1234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Jan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637336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Day-90 review + Q1'27 plan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349240"/>
            <a:ext cx="539496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486400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GA4/Meta events verified Aug 31 · paid test Sep 28 → full Oct 5 · pop-up/expo locked by Sep 15.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1148085908000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554480"/>
            <a:ext cx="3931920" cy="3931920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371600" y="4754880"/>
            <a:ext cx="3566160" cy="356616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Growth, with discipline.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A3AF"/>
                </a:solidFill>
                <a:latin typeface="Calibri"/>
              </a:rPr>
              <a:t>Full plan: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docs/launch-marketing-plan-medium.md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   ·   Tiers: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docs/launch-marketing-plan-tiers.md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11D48"/>
                </a:solidFill>
                <a:latin typeface="Calibri"/>
              </a:rPr>
              <a:t>Next step: 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close the 5 tier risks and execute the 12-item checklist; Day-60 checkpoint decides upgrade to High.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9CA3AF"/>
                </a:solidFill>
                <a:latin typeface="Calibri"/>
              </a:rPr>
              <a:t>#BookBeautyAnywhere  ·  #NeverDMForADate  ·  Your Beauty, Perfected.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-1737360"/>
            <a:ext cx="4206240" cy="4206240"/>
          </a:xfrm>
          <a:prstGeom prst="ellipse">
            <a:avLst/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5A30D"/>
                </a:solidFill>
                <a:latin typeface="Calibri"/>
              </a:rPr>
              <a:t>TIER 3 · LOW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Georgia"/>
              </a:rPr>
              <a:t>RM 10,000 — bootstrap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A3AF"/>
                </a:solidFill>
                <a:latin typeface="Calibri"/>
              </a:rPr>
              <a:t>Same launch date · same campaign · scaled execution — see docs/launch-marketing-plan-tiers.md for the comparison.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CA3AF"/>
                </a:solidFill>
                <a:latin typeface="Calibri"/>
              </a:rPr>
              <a:t>#BookBeautyAnywhere  ·  #NeverDMForADate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1148085908000" cy="128016"/>
          </a:xfrm>
          <a:prstGeom prst="rect">
            <a:avLst/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554480"/>
            <a:ext cx="3931920" cy="3931920"/>
          </a:xfrm>
          <a:prstGeom prst="ellipse">
            <a:avLst/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371600" y="4754880"/>
            <a:ext cx="3566160" cy="356616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LEISH.MY · LAUNCH MARKETING PLAN · 90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Low Budget (Bootstrap)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9CA3AF"/>
                </a:solidFill>
                <a:latin typeface="Calibri"/>
              </a:rPr>
              <a:t>Never DM for a Date Again. — official launch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October 5,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611880"/>
            <a:ext cx="3291840" cy="105156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65A3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67328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CA3AF"/>
                </a:solidFill>
                <a:latin typeface="Calibri"/>
              </a:rPr>
              <a:t>TOTAL BUDGET</a:t>
            </a:r>
          </a:p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RM 10,000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611880"/>
            <a:ext cx="3749039" cy="105156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767328"/>
            <a:ext cx="3383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CA3AF"/>
                </a:solidFill>
                <a:latin typeface="Calibri"/>
              </a:rPr>
              <a:t>DAY-90 HEADLINE</a:t>
            </a:r>
          </a:p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300 clients · 25 artists · 6–10 bookings/wk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611880"/>
            <a:ext cx="3291840" cy="105156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767328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CA3AF"/>
                </a:solidFill>
                <a:latin typeface="Calibri"/>
              </a:rPr>
              <a:t>LAUNCH DATE</a:t>
            </a:r>
          </a:p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Oct 5,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CA3AF"/>
                </a:solidFill>
                <a:latin typeface="Calibri"/>
              </a:rPr>
              <a:t>Founder-led quiet launch. Community, artist network, referrals and barter — near-zero paid. The goal is proof of unit economics, not scale.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The Play — Low Budget (Bootstrap)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3886200"/>
          </a:xfrm>
          <a:prstGeom prst="roundRect">
            <a:avLst>
              <a:gd name="adj" fmla="val 6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6616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Proof, not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Hit consistent weekly bookings at CAC ≤ RM 15 and artist retention ≥ 80% → unlock the Medium plan (RM 40k) for Q1'27 CNY season.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828800"/>
            <a:ext cx="3566160" cy="3886200"/>
          </a:xfrm>
          <a:prstGeom prst="roundRect">
            <a:avLst>
              <a:gd name="adj" fmla="val 6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828800"/>
            <a:ext cx="3566160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2240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B2777"/>
                </a:solidFill>
                <a:latin typeface="Calibri"/>
              </a:rPr>
              <a:t>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6060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Quiet soft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No event, no paid splash: waitlist email + organic posts + LEISH30 on Oct 5. Growth via bridal FB groups, campus and co-hosted pop-up.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828800"/>
            <a:ext cx="3566160" cy="38862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828800"/>
            <a:ext cx="356616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GROWTH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6060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937"/>
                </a:solidFill>
                <a:latin typeface="Georgia"/>
              </a:rPr>
              <a:t>People over 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Artist share links (built into the product), referral from Day 1, nano-KOL barter, UGC contests. RM 2.5k retargeting only — no prospecting.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989320"/>
            <a:ext cx="11091672" cy="384048"/>
          </a:xfrm>
          <a:prstGeom prst="roundRect">
            <a:avLst>
              <a:gd name="adj" fmla="val 50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1091672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65A30D"/>
                </a:solidFill>
                <a:latin typeface="Calibri"/>
              </a:rPr>
              <a:t>Artist gate: 20 bookable artists by Sep 28 · Offers: LEISH30 cap 100 · Free 6-month Pro for artists (compensates for lower traffic)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RM 10,000 ·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Budget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56231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Community &amp; events (co-hosted pop-up, campus, giveaways)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856231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3,000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11095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0" y="1911095"/>
            <a:ext cx="850392" cy="21945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78440" y="1856231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6829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Meta ads — retargeting only (from week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368296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2,500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423160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0" y="2423160"/>
            <a:ext cx="708660" cy="219456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78440" y="2368296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Nano KOLs — barter + commission (no big flat fees)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88036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1,500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935224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0" y="2935224"/>
            <a:ext cx="425196" cy="21945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78440" y="288036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9242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Artist acquisition (referral fees RM100 × 10)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392424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1,000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447288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3447288"/>
            <a:ext cx="283464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78440" y="339242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0448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Tools &amp; design (Canva Pro, stock, ad tools)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9044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1,000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3959352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06640" y="3959352"/>
            <a:ext cx="283464" cy="219456"/>
          </a:xfrm>
          <a:prstGeom prst="roundRect">
            <a:avLst>
              <a:gd name="adj" fmla="val 50000"/>
            </a:avLst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78440" y="39044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16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Contingency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41655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1,000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4471416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06640" y="4471416"/>
            <a:ext cx="283464" cy="219456"/>
          </a:xfrm>
          <a:prstGeom prst="roundRect">
            <a:avLst>
              <a:gd name="adj" fmla="val 50000"/>
            </a:avLst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78440" y="4416552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10%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Payback logic: 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Organic-heavy CAC ≤ RM 15 → LTV RM 90–150 = 6–10x LTV:CAC. Paid is retargeting-only (closing), never prospecting, at this scale.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NORTH-STAR METRIC: COMPLETED BOOKINGS PER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Day-90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91440" cy="1234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E11D48"/>
                </a:solidFill>
                <a:latin typeface="Georgia"/>
              </a:rPr>
              <a:t>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Registered clients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8288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1828800"/>
            <a:ext cx="91440" cy="123444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DB2777"/>
                </a:solidFill>
                <a:latin typeface="Georgia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606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Active artists &amp; studios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8288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1828800"/>
            <a:ext cx="91440" cy="1234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8B5CF6"/>
                </a:solidFill>
                <a:latin typeface="Georgia"/>
              </a:rPr>
              <a:t>6–10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606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Bookings / week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004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91440" cy="1234440"/>
          </a:xfrm>
          <a:prstGeom prst="rect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3649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E9492"/>
                </a:solidFill>
                <a:latin typeface="Georgia"/>
              </a:rPr>
              <a:t>RM 1.8–3k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7763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GMV / week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32004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3200400"/>
            <a:ext cx="91440" cy="1234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1" y="33649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D97706"/>
                </a:solidFill>
                <a:latin typeface="Georgia"/>
              </a:rPr>
              <a:t>≤ RM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1" y="397763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Blended CAC (organic-heavy)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32004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0144" y="3200400"/>
            <a:ext cx="91440" cy="1234440"/>
          </a:xfrm>
          <a:prstGeom prst="rect">
            <a:avLst/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3" y="33649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65A30D"/>
                </a:solidFill>
                <a:latin typeface="Georgia"/>
              </a:rPr>
              <a:t>1,200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397763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Email 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66344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PROGRESSION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48640" y="4983480"/>
          <a:ext cx="11082528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764792"/>
                <a:gridCol w="1764792"/>
                <a:gridCol w="1764792"/>
                <a:gridCol w="1764792"/>
              </a:tblGrid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Pre-launch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 30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 60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 90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Waitlist / clients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400 waitlist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220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Weekly bookings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3–4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5–7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6–10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Commission / wk (20%)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RM 180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RM 300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RM 360–600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Email list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Social following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1,800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Four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27432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11D48"/>
                </a:solidFill>
                <a:latin typeface="Calibri"/>
              </a:rPr>
              <a:t>PHASE 0 · PRE-LAUNCH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7280"/>
                </a:solidFill>
                <a:latin typeface="Calibri"/>
              </a:rPr>
              <a:t>Aug 10 – Oct 4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17296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10896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Green-light Aug 10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90448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8404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Waitlist live Sep 7 (RM30 offer)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63600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57200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20 anchor artists, founder concierge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536752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30352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Founder content 3x/wk</a:t>
            </a:r>
          </a:p>
        </p:txBody>
      </p:sp>
      <p:sp>
        <p:nvSpPr>
          <p:cNvPr id="18" name="Oval 17"/>
          <p:cNvSpPr/>
          <p:nvPr/>
        </p:nvSpPr>
        <p:spPr>
          <a:xfrm>
            <a:off x="804672" y="609904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603504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No paid before Day 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1874519"/>
            <a:ext cx="2743200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9312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B2777"/>
                </a:solidFill>
                <a:latin typeface="Calibri"/>
              </a:rPr>
              <a:t>PHASE 1 · SOFT LAUNCH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7280"/>
                </a:solidFill>
                <a:latin typeface="Calibri"/>
              </a:rPr>
              <a:t>Oct 5 – 11</a:t>
            </a:r>
          </a:p>
        </p:txBody>
      </p:sp>
      <p:sp>
        <p:nvSpPr>
          <p:cNvPr id="24" name="Oval 23"/>
          <p:cNvSpPr/>
          <p:nvPr/>
        </p:nvSpPr>
        <p:spPr>
          <a:xfrm>
            <a:off x="3666744" y="317296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9624" y="310896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Quiet launch: waitlist email + organic</a:t>
            </a:r>
          </a:p>
        </p:txBody>
      </p:sp>
      <p:sp>
        <p:nvSpPr>
          <p:cNvPr id="26" name="Oval 25"/>
          <p:cNvSpPr/>
          <p:nvPr/>
        </p:nvSpPr>
        <p:spPr>
          <a:xfrm>
            <a:off x="3666744" y="390448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9624" y="38404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LEISH30 live (cap 100)</a:t>
            </a:r>
          </a:p>
        </p:txBody>
      </p:sp>
      <p:sp>
        <p:nvSpPr>
          <p:cNvPr id="28" name="Oval 27"/>
          <p:cNvSpPr/>
          <p:nvPr/>
        </p:nvSpPr>
        <p:spPr>
          <a:xfrm>
            <a:off x="3666744" y="463600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9624" y="457200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Referral live Day 1 (RM15/RM15)</a:t>
            </a:r>
          </a:p>
        </p:txBody>
      </p:sp>
      <p:sp>
        <p:nvSpPr>
          <p:cNvPr id="30" name="Oval 29"/>
          <p:cNvSpPr/>
          <p:nvPr/>
        </p:nvSpPr>
        <p:spPr>
          <a:xfrm>
            <a:off x="3666744" y="536752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9624" y="530352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Pitch 5 wedding bloggers (free)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2783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72783" y="1874519"/>
            <a:ext cx="274320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1383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8B5CF6"/>
                </a:solidFill>
                <a:latin typeface="Calibri"/>
              </a:rPr>
              <a:t>PHASE 2 · COMMUNITY GROWTH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1383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7280"/>
                </a:solidFill>
                <a:latin typeface="Calibri"/>
              </a:rPr>
              <a:t>Oct 12 – Dec 31</a:t>
            </a:r>
          </a:p>
        </p:txBody>
      </p:sp>
      <p:sp>
        <p:nvSpPr>
          <p:cNvPr id="36" name="Oval 35"/>
          <p:cNvSpPr/>
          <p:nvPr/>
        </p:nvSpPr>
        <p:spPr>
          <a:xfrm>
            <a:off x="6528816" y="317296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11696" y="310896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Bridal FB groups daily (value posts)</a:t>
            </a:r>
          </a:p>
        </p:txBody>
      </p:sp>
      <p:sp>
        <p:nvSpPr>
          <p:cNvPr id="38" name="Oval 37"/>
          <p:cNvSpPr/>
          <p:nvPr/>
        </p:nvSpPr>
        <p:spPr>
          <a:xfrm>
            <a:off x="6528816" y="390448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11696" y="38404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1 co-hosted pop-up (RM 1.5k)</a:t>
            </a:r>
          </a:p>
        </p:txBody>
      </p:sp>
      <p:sp>
        <p:nvSpPr>
          <p:cNvPr id="40" name="Oval 39"/>
          <p:cNvSpPr/>
          <p:nvPr/>
        </p:nvSpPr>
        <p:spPr>
          <a:xfrm>
            <a:off x="6528816" y="463600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57200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Nano-KOL barter + UGC contest</a:t>
            </a:r>
          </a:p>
        </p:txBody>
      </p:sp>
      <p:sp>
        <p:nvSpPr>
          <p:cNvPr id="42" name="Oval 41"/>
          <p:cNvSpPr/>
          <p:nvPr/>
        </p:nvSpPr>
        <p:spPr>
          <a:xfrm>
            <a:off x="6528816" y="536752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11696" y="530352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1 blog/mo long-tail SEO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34855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34855" y="1874519"/>
            <a:ext cx="2743200" cy="128016"/>
          </a:xfrm>
          <a:prstGeom prst="rect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63455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9492"/>
                </a:solidFill>
                <a:latin typeface="Calibri"/>
              </a:rPr>
              <a:t>PHASE 3 · CHECKPOINT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63455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7280"/>
                </a:solidFill>
                <a:latin typeface="Calibri"/>
              </a:rPr>
              <a:t>Jan 2027</a:t>
            </a:r>
          </a:p>
        </p:txBody>
      </p:sp>
      <p:sp>
        <p:nvSpPr>
          <p:cNvPr id="48" name="Oval 47"/>
          <p:cNvSpPr/>
          <p:nvPr/>
        </p:nvSpPr>
        <p:spPr>
          <a:xfrm>
            <a:off x="9390887" y="3172968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73767" y="310896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≥8 bookings/wk + CAC ≤ RM 15 +</a:t>
            </a:r>
          </a:p>
        </p:txBody>
      </p:sp>
      <p:sp>
        <p:nvSpPr>
          <p:cNvPr id="50" name="Oval 49"/>
          <p:cNvSpPr/>
          <p:nvPr/>
        </p:nvSpPr>
        <p:spPr>
          <a:xfrm>
            <a:off x="9390887" y="3904488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73767" y="38404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artist retention ≥ 80% →</a:t>
            </a:r>
          </a:p>
        </p:txBody>
      </p:sp>
      <p:sp>
        <p:nvSpPr>
          <p:cNvPr id="52" name="Oval 51"/>
          <p:cNvSpPr/>
          <p:nvPr/>
        </p:nvSpPr>
        <p:spPr>
          <a:xfrm>
            <a:off x="9390887" y="4636008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73767" y="457200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move to Medium (RM 40k)</a:t>
            </a:r>
          </a:p>
        </p:txBody>
      </p:sp>
      <p:sp>
        <p:nvSpPr>
          <p:cNvPr id="54" name="Oval 53"/>
          <p:cNvSpPr/>
          <p:nvPr/>
        </p:nvSpPr>
        <p:spPr>
          <a:xfrm>
            <a:off x="9390887" y="5367528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73767" y="530352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for Q1'27 CNY season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CHANNEL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Owned · Paid · 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39312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39312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488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11D48"/>
                </a:solidFill>
                <a:latin typeface="Georgia"/>
              </a:rPr>
              <a:t>OWNED FIRST — ~85% OF THE WORK</a:t>
            </a:r>
          </a:p>
        </p:txBody>
      </p:sp>
      <p:sp>
        <p:nvSpPr>
          <p:cNvPr id="9" name="Oval 8"/>
          <p:cNvSpPr/>
          <p:nvPr/>
        </p:nvSpPr>
        <p:spPr>
          <a:xfrm>
            <a:off x="841247" y="2679192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60604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IG — 3 posts + daily stories + 1 reel / wk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7" y="326440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191256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TikTok — 1–2 founder reels / wk</a:t>
            </a:r>
          </a:p>
        </p:txBody>
      </p:sp>
      <p:sp>
        <p:nvSpPr>
          <p:cNvPr id="13" name="Oval 12"/>
          <p:cNvSpPr/>
          <p:nvPr/>
        </p:nvSpPr>
        <p:spPr>
          <a:xfrm>
            <a:off x="841247" y="3849624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776472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FB + bridal/beauty groups — daily, value-first</a:t>
            </a:r>
          </a:p>
        </p:txBody>
      </p:sp>
      <p:sp>
        <p:nvSpPr>
          <p:cNvPr id="15" name="Oval 14"/>
          <p:cNvSpPr/>
          <p:nvPr/>
        </p:nvSpPr>
        <p:spPr>
          <a:xfrm>
            <a:off x="841247" y="4434840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361688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Email (Brevo) — sequence + 1 newsletter/mo</a:t>
            </a:r>
          </a:p>
        </p:txBody>
      </p:sp>
      <p:sp>
        <p:nvSpPr>
          <p:cNvPr id="17" name="Oval 16"/>
          <p:cNvSpPr/>
          <p:nvPr/>
        </p:nvSpPr>
        <p:spPr>
          <a:xfrm>
            <a:off x="841247" y="5020055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946903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Artist share links — the #1 acquisition loop</a:t>
            </a:r>
          </a:p>
        </p:txBody>
      </p:sp>
      <p:sp>
        <p:nvSpPr>
          <p:cNvPr id="19" name="Oval 18"/>
          <p:cNvSpPr/>
          <p:nvPr/>
        </p:nvSpPr>
        <p:spPr>
          <a:xfrm>
            <a:off x="841247" y="5605271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532119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Founder LinkedIn — weekly build-in-public posts</a:t>
            </a:r>
          </a:p>
        </p:txBody>
      </p:sp>
      <p:sp>
        <p:nvSpPr>
          <p:cNvPr id="21" name="Oval 20"/>
          <p:cNvSpPr/>
          <p:nvPr/>
        </p:nvSpPr>
        <p:spPr>
          <a:xfrm>
            <a:off x="841247" y="6190487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6117335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SEO — 1 long-tail blog/mo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5112" y="1828800"/>
            <a:ext cx="3639312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5112" y="1828800"/>
            <a:ext cx="3639312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1" y="21488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B2777"/>
                </a:solidFill>
                <a:latin typeface="Georgia"/>
              </a:rPr>
              <a:t>PAID — RM 2.5K</a:t>
            </a:r>
          </a:p>
        </p:txBody>
      </p:sp>
      <p:sp>
        <p:nvSpPr>
          <p:cNvPr id="26" name="Oval 25"/>
          <p:cNvSpPr/>
          <p:nvPr/>
        </p:nvSpPr>
        <p:spPr>
          <a:xfrm>
            <a:off x="4617720" y="2679192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260604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Meta retargeting only, from week 2</a:t>
            </a:r>
          </a:p>
        </p:txBody>
      </p:sp>
      <p:sp>
        <p:nvSpPr>
          <p:cNvPr id="28" name="Oval 27"/>
          <p:cNvSpPr/>
          <p:nvPr/>
        </p:nvSpPr>
        <p:spPr>
          <a:xfrm>
            <a:off x="4617720" y="326440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3191256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Audiences: site visitors + waitlist abandoners</a:t>
            </a:r>
          </a:p>
        </p:txBody>
      </p:sp>
      <p:sp>
        <p:nvSpPr>
          <p:cNvPr id="30" name="Oval 29"/>
          <p:cNvSpPr/>
          <p:nvPr/>
        </p:nvSpPr>
        <p:spPr>
          <a:xfrm>
            <a:off x="4617720" y="3849624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776472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Creative: RM30 offer</a:t>
            </a:r>
          </a:p>
        </p:txBody>
      </p:sp>
      <p:sp>
        <p:nvSpPr>
          <p:cNvPr id="32" name="Oval 31"/>
          <p:cNvSpPr/>
          <p:nvPr/>
        </p:nvSpPr>
        <p:spPr>
          <a:xfrm>
            <a:off x="4617720" y="4434840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600" y="4361688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No Google · No TikTok ads · No prospecting</a:t>
            </a:r>
          </a:p>
        </p:txBody>
      </p:sp>
      <p:sp>
        <p:nvSpPr>
          <p:cNvPr id="34" name="Oval 33"/>
          <p:cNvSpPr/>
          <p:nvPr/>
        </p:nvSpPr>
        <p:spPr>
          <a:xfrm>
            <a:off x="4617720" y="5020055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4946903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Pause &lt;1.5x ROAS after 2 weeks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1583" y="1828800"/>
            <a:ext cx="3639312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01583" y="1828800"/>
            <a:ext cx="3639312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21488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8B5CF6"/>
                </a:solidFill>
                <a:latin typeface="Georgia"/>
              </a:rPr>
              <a:t>EARNED + COMMUNITY — RM 5.5K</a:t>
            </a:r>
          </a:p>
        </p:txBody>
      </p:sp>
      <p:sp>
        <p:nvSpPr>
          <p:cNvPr id="39" name="Oval 38"/>
          <p:cNvSpPr/>
          <p:nvPr/>
        </p:nvSpPr>
        <p:spPr>
          <a:xfrm>
            <a:off x="8394192" y="2679192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77072" y="260604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Nano KOLs (2k–20k) — barter + 10–15% of GMV</a:t>
            </a:r>
          </a:p>
        </p:txBody>
      </p:sp>
      <p:sp>
        <p:nvSpPr>
          <p:cNvPr id="41" name="Oval 40"/>
          <p:cNvSpPr/>
          <p:nvPr/>
        </p:nvSpPr>
        <p:spPr>
          <a:xfrm>
            <a:off x="8394192" y="326440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77072" y="3191256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Ambassador program — top 10 clients, RM50/mo</a:t>
            </a:r>
          </a:p>
        </p:txBody>
      </p:sp>
      <p:sp>
        <p:nvSpPr>
          <p:cNvPr id="43" name="Oval 42"/>
          <p:cNvSpPr/>
          <p:nvPr/>
        </p:nvSpPr>
        <p:spPr>
          <a:xfrm>
            <a:off x="8394192" y="3849624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77072" y="3776472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1 co-hosted pop-up with partner studio</a:t>
            </a:r>
          </a:p>
        </p:txBody>
      </p:sp>
      <p:sp>
        <p:nvSpPr>
          <p:cNvPr id="45" name="Oval 44"/>
          <p:cNvSpPr/>
          <p:nvPr/>
        </p:nvSpPr>
        <p:spPr>
          <a:xfrm>
            <a:off x="8394192" y="4434840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77072" y="4361688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1 campus pop-up (Cyberjaya)</a:t>
            </a:r>
          </a:p>
        </p:txBody>
      </p:sp>
      <p:sp>
        <p:nvSpPr>
          <p:cNvPr id="47" name="Oval 46"/>
          <p:cNvSpPr/>
          <p:nvPr/>
        </p:nvSpPr>
        <p:spPr>
          <a:xfrm>
            <a:off x="8394192" y="5020055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77072" y="4946903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Bridal FB group giveaways (RM 500)</a:t>
            </a:r>
          </a:p>
        </p:txBody>
      </p:sp>
      <p:sp>
        <p:nvSpPr>
          <p:cNvPr id="49" name="Oval 48"/>
          <p:cNvSpPr/>
          <p:nvPr/>
        </p:nvSpPr>
        <p:spPr>
          <a:xfrm>
            <a:off x="8394192" y="5605271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77072" y="5532119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F2937"/>
                </a:solidFill>
                <a:latin typeface="Calibri"/>
              </a:rPr>
              <a:t>UGC contest — 5 × RM50 vouchers monthly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LOCK BEFORE DAY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Launch Offers &amp; Promotions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3931920"/>
          </a:xfrm>
          <a:prstGeom prst="roundRect">
            <a:avLst>
              <a:gd name="adj" fmla="val 5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864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11D48"/>
                </a:solidFill>
                <a:latin typeface="Calibri"/>
              </a:rPr>
              <a:t>CLIENT SIDE (DEMAND)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0604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1576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LEISH30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RM30 off first booking · cap 100 · valid to Day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593592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Refer-a-friend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50791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RM15 credit each · live from Day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581144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9087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UGC contest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3834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5 × RM50 vouchers · monthly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28800"/>
            <a:ext cx="5486400" cy="393192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828800"/>
            <a:ext cx="548640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1031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B5CF6"/>
                </a:solidFill>
                <a:latin typeface="Calibri"/>
              </a:rPr>
              <a:t>ARTIST SIDE (SUPPLY)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260604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71576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Free 6-month Pro listing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0632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Normally RM 200–500/mo · cap 25 artists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593592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70332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0% commission, first 10 bookings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050791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vs standard 20% · cap 15 artists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581144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469087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Artist referral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03834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RM100 on referee's 5th booking · cap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⚠ Pre-launch dev task: verify promo-code / credit support in admin before Sep 7 (same as other tiers).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WATCH WEEKLY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Risks &amp;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Demand too slow → artists churn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828800"/>
            <a:ext cx="7543800" cy="868680"/>
          </a:xfrm>
          <a:prstGeom prst="roundRect">
            <a:avLst>
              <a:gd name="adj" fmla="val 9000"/>
            </a:avLst>
          </a:prstGeom>
          <a:solidFill>
            <a:srgbClr val="FA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938528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Free 6-month Pro; celebrate every booking publicly; weekly artist check-ins.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16352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35224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Founder bandwidth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2816352"/>
            <a:ext cx="7543800" cy="868680"/>
          </a:xfrm>
          <a:prstGeom prst="roundRect">
            <a:avLst>
              <a:gd name="adj" fmla="val 9000"/>
            </a:avLst>
          </a:prstGeom>
          <a:solidFill>
            <a:srgbClr val="FA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926080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2 batch content days/wk; templates; hire part-time helper from contingency if bookings justify.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03904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22776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No PR / low visibility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3803904"/>
            <a:ext cx="7543800" cy="868680"/>
          </a:xfrm>
          <a:prstGeom prst="roundRect">
            <a:avLst>
              <a:gd name="adj" fmla="val 9000"/>
            </a:avLst>
          </a:prstGeom>
          <a:solidFill>
            <a:srgbClr val="FA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3913632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FB groups + campus + barter nano-KOLs; accept slower ramp — this tier buys proof, not reach.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91456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1032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Paid waste at tiny budget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4791456"/>
            <a:ext cx="7543800" cy="868680"/>
          </a:xfrm>
          <a:prstGeom prst="roundRect">
            <a:avLst>
              <a:gd name="adj" fmla="val 9000"/>
            </a:avLst>
          </a:prstGeom>
          <a:solidFill>
            <a:srgbClr val="FA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4901184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Retargeting only; pause &lt;1.5x ROAS after 2 weeks.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79008"/>
            <a:ext cx="3291840" cy="868680"/>
          </a:xfrm>
          <a:prstGeom prst="roundRect">
            <a:avLst>
              <a:gd name="adj" fmla="val 9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89788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Promo abuse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5779008"/>
            <a:ext cx="7543800" cy="868680"/>
          </a:xfrm>
          <a:prstGeom prst="roundRect">
            <a:avLst>
              <a:gd name="adj" fmla="val 9000"/>
            </a:avLst>
          </a:prstGeom>
          <a:solidFill>
            <a:srgbClr val="FAF9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5888736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One code per account; cap 100 redemptions.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Guardrails: 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artists idle 14+ days · no-show &lt;15% · artist response &lt;4 hrs · paid cost per booking &lt; RM 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OWNER CHECKLIST + UPGRADE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Execute · Measure · Decide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5A30D"/>
                </a:solidFill>
                <a:latin typeface="Calibri"/>
              </a:rPr>
              <a:t>30-DAY CHECKLIST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Aug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15798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Confirm date + 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24327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97479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Sep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679191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Waitlist + RM30 offer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45535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18687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Sep 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200399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5 wedding bloggers pitched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66744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39896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Sep 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721607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20 anchor artists (gate!)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87952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61104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Oct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24281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DAY 0 — soft launch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09160"/>
            <a:ext cx="1234440" cy="457200"/>
          </a:xfrm>
          <a:prstGeom prst="roundRect">
            <a:avLst>
              <a:gd name="adj" fmla="val 25000"/>
            </a:avLst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782312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Oct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7640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2937"/>
                </a:solidFill>
                <a:latin typeface="Calibri"/>
              </a:rPr>
              <a:t>Retargeting ON (week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16916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UPGRADE / DOWNGRADE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103120"/>
            <a:ext cx="1371600" cy="4572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176272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Upgrade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148839"/>
            <a:ext cx="39776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Day-60: ≥8 bookings/wk + CAC ≤ RM 15 + artist retention ≥ 80% → move to Medium (RM 40k) for Q1'27 CNY season.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2624327"/>
            <a:ext cx="1371600" cy="45720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697479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670047"/>
            <a:ext cx="39776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Day-90 GMV/wk &lt; RM 1,500 → diagnose supply/checkout/demand before spending more.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120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REMAINING CHECKLIST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5486400"/>
            <a:ext cx="1234440" cy="384048"/>
          </a:xfrm>
          <a:prstGeom prst="roundRect">
            <a:avLst>
              <a:gd name="adj" fmla="val 25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5532120"/>
            <a:ext cx="1234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Nov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55321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Co-hosted pop-up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5907024"/>
            <a:ext cx="1234440" cy="384048"/>
          </a:xfrm>
          <a:prstGeom prst="roundRect">
            <a:avLst>
              <a:gd name="adj" fmla="val 25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5952744"/>
            <a:ext cx="1234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Dec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595274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Day-60 checkpoint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6327648"/>
            <a:ext cx="1234440" cy="384048"/>
          </a:xfrm>
          <a:prstGeom prst="roundRect">
            <a:avLst>
              <a:gd name="adj" fmla="val 25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6373368"/>
            <a:ext cx="1234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2937"/>
                </a:solidFill>
                <a:latin typeface="Calibri"/>
              </a:rPr>
              <a:t>Jan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637336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Day-90 review → upgrade decision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349240"/>
            <a:ext cx="539496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486400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GA4/Meta events verified Sep 7 · referral live Oct 5 · founder batches content Mon + Thu.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1148085908000" cy="128016"/>
          </a:xfrm>
          <a:prstGeom prst="rect">
            <a:avLst/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554480"/>
            <a:ext cx="3931920" cy="3931920"/>
          </a:xfrm>
          <a:prstGeom prst="ellipse">
            <a:avLst/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371600" y="4754880"/>
            <a:ext cx="3566160" cy="356616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Prove it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A3AF"/>
                </a:solidFill>
                <a:latin typeface="Calibri"/>
              </a:rPr>
              <a:t>Full plan: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docs/launch-marketing-plan-low.md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   ·   Tiers: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docs/launch-marketing-plan-tiers.md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11D48"/>
                </a:solidFill>
                <a:latin typeface="Calibri"/>
              </a:rPr>
              <a:t>Next step: 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run the 10-item founder checklist; the Day-60 checkpoint decides whether Leish! earns the Medium budget for CNY season.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9CA3AF"/>
                </a:solidFill>
                <a:latin typeface="Calibri"/>
              </a:rPr>
              <a:t>#BookBeautyAnywhere  ·  #NeverDMForADate  ·  Your Beauty, Perfected.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554480"/>
            <a:ext cx="3931920" cy="39319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Pick a tier. Launch Oct 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11D48"/>
                </a:solidFill>
                <a:latin typeface="Calibri"/>
              </a:rPr>
              <a:t>Decision path: 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Low proves economics → Medium grows it → High captures wedding season. Close the 7 blockers by Aug 10.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9CA3AF"/>
                </a:solidFill>
                <a:latin typeface="Calibri"/>
              </a:rPr>
              <a:t>#BookBeautyAnywhere  ·  #NeverDMForADate  ·  Your Beauty, Perfected.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