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Commission 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FY2026</c:v>
                </c:pt>
                <c:pt idx="1">
                  <c:v>FY2027</c:v>
                </c:pt>
                <c:pt idx="2">
                  <c:v>FY2028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435624</c:v>
                </c:pt>
                <c:pt idx="1">
                  <c:v>4576000</c:v>
                </c:pt>
                <c:pt idx="2">
                  <c:v>17370000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Studio Rental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FY2026</c:v>
                </c:pt>
                <c:pt idx="1">
                  <c:v>FY2027</c:v>
                </c:pt>
                <c:pt idx="2">
                  <c:v>FY2028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217806</c:v>
                </c:pt>
                <c:pt idx="1">
                  <c:v>2745600</c:v>
                </c:pt>
                <c:pt idx="2">
                  <c:v>11290500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Premium Listings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FY2026</c:v>
                </c:pt>
                <c:pt idx="1">
                  <c:v>FY2027</c:v>
                </c:pt>
                <c:pt idx="2">
                  <c:v>FY2028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65344</c:v>
                </c:pt>
                <c:pt idx="1">
                  <c:v>179200</c:v>
                </c:pt>
                <c:pt idx="2">
                  <c:v>882000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Loyalty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FY2026</c:v>
                </c:pt>
                <c:pt idx="1">
                  <c:v>FY2027</c:v>
                </c:pt>
                <c:pt idx="2">
                  <c:v>FY2028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336000</c:v>
                </c:pt>
                <c:pt idx="2">
                  <c:v>2572500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B2B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FY2026</c:v>
                </c:pt>
                <c:pt idx="1">
                  <c:v>FY2027</c:v>
                </c:pt>
                <c:pt idx="2">
                  <c:v>FY2028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43562</c:v>
                </c:pt>
                <c:pt idx="1">
                  <c:v>224000</c:v>
                </c:pt>
                <c:pt idx="2">
                  <c:v>1102500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Year 1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Fixed Costs</c:v>
                </c:pt>
                <c:pt idx="1">
                  <c:v>Variable Costs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660000</c:v>
                </c:pt>
                <c:pt idx="1">
                  <c:v>462000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EBITDA Margin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FY2026</c:v>
                </c:pt>
                <c:pt idx="1">
                  <c:v>FY2027</c:v>
                </c:pt>
                <c:pt idx="2">
                  <c:v>FY2028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-0.543</c:v>
                </c:pt>
                <c:pt idx="1">
                  <c:v>0.531</c:v>
                </c:pt>
                <c:pt idx="2">
                  <c:v>0.792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LTV:CAC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8.5</c:v>
                </c:pt>
                <c:pt idx="1">
                  <c:v>18.0</c:v>
                </c:pt>
                <c:pt idx="2">
                  <c:v>30.9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Benchmark (3x)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Leish.my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D1D5DB"/>
                </a:solidFill>
                <a:latin typeface="Calibri"/>
              </a:defRPr>
            </a:pPr>
            <a:r>
              <a:t>Detailed Financial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FY 2026–2029 | Seed Round Preparation |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Confidential — For Investor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2937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46888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Year 1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43F5E"/>
                </a:solidFill>
                <a:latin typeface="Calibri"/>
              </a:defRPr>
            </a:pPr>
            <a:r>
              <a:t>RM 762K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097280"/>
            <a:ext cx="246888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143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Year 2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43F5E"/>
                </a:solidFill>
                <a:latin typeface="Calibri"/>
              </a:defRPr>
            </a:pPr>
            <a:r>
              <a:t>RM 4.3M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097280"/>
            <a:ext cx="246888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143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Year 3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43F5E"/>
                </a:solidFill>
                <a:latin typeface="Calibri"/>
              </a:defRPr>
            </a:pPr>
            <a:r>
              <a:t>RM 16.7M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1097280"/>
            <a:ext cx="246888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1143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Break-even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43F5E"/>
                </a:solidFill>
                <a:latin typeface="Calibri"/>
              </a:defRPr>
            </a:pPr>
            <a:r>
              <a:t>Month 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Calibri"/>
              </a:defRPr>
            </a:pPr>
            <a:r>
              <a:t>Current 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175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• 88+ registered clients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• 104+ total bookings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• 4+ professional artists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• 8 beauty categories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• Service area: KL &amp; Selangor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• Platform: Next.js (migrating)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Calibri"/>
              </a:defRPr>
            </a:pPr>
            <a:r>
              <a:t>Financial Highlights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175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• Seed ask: RM 1.2M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• 18-month runway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• Break-even: Month 18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• LTV:CAC ratio: 8.5x → 30.9x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• Gross margin: 93% → 95%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• 3-year revenue: RM 21.8M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• Year 3 EBITDA margin: 79%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2937"/>
                </a:solidFill>
                <a:latin typeface="Calibri"/>
              </a:defRPr>
            </a:pPr>
            <a:r>
              <a:t>Business Model &amp; Revenue Streams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657600"/>
                <a:gridCol w="3657600"/>
              </a:tblGrid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Revenue Stream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Mechanism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Revenue Mix (Y1 → Y3)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Booking Commission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20% of each client booking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85% (Y1) → 65% (Y3)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Studio Rental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15% of studio session fees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10% → 13%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Premium Listings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Featured placement RM 200–500/mo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3% → 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Loyalty Subscriptions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RM 49–99/mo per client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0% → 7%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B2B Corporate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Bulk event/corporate bookings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2% → 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• Avg Booking Value: RM 280 → RM 350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• Platform Take Rate: 20% (industry standard for beauty marketplaces)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• Gross Margin: 80–95% (asset-light marketplace model)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• Payment Processing: 2.5% of GMV (HitPay/Midtrans)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2937"/>
                </a:solidFill>
                <a:latin typeface="Calibri"/>
              </a:defRPr>
            </a:pPr>
            <a:r>
              <a:t>Market Opportunity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640080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Market Tier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RM 3.7B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Malaysia Beauty &amp; Personal Care Market (2026)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SAM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RM 450M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Online Beauty Services (Malaysia)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RM 18M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KL &amp; Selangor addressable (Year 3 target)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Calibri"/>
              </a:defRPr>
            </a:pPr>
            <a:r>
              <a:t>Market Drivers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Rising disposable incomes in KL/SEL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Growing preference for on-demand beauty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Social media-driven beauty awareness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Post-COVID digital adoption acceleration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76% of Malaysians report cost-of-living anxiety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Beauty market growing at ~8% CAGR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5661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Booksy — Global, limited MY presence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Fresha — Global salon software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StyleSeat — US-focused, not in MY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Local salons — Fragmented, no platform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Leish Advantage: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Specialist focus on MUA/beauty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Malaysian-first, community-driven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Structured booking experience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2937"/>
                </a:solidFill>
                <a:latin typeface="Calibri"/>
              </a:defRPr>
            </a:pPr>
            <a:r>
              <a:t>Key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3F5E"/>
                </a:solidFill>
                <a:latin typeface="Calibri"/>
              </a:defRPr>
            </a:pPr>
            <a:r>
              <a:t>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19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New users: 50→200/mo (Y1), 150→500/mo (Y2), 300→1,000/mo (Y3)</a:t>
            </a:r>
          </a:p>
          <a:p>
            <a:pPr>
              <a:spcAft>
                <a:spcPts val="6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Cumulative users: 1,500 (Y1) → 6,000 (Y2) → 18,000 (Y3)</a:t>
            </a:r>
          </a:p>
          <a:p>
            <a:pPr>
              <a:spcAft>
                <a:spcPts val="6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Active users: 35% → 50% → 60% of total</a:t>
            </a:r>
          </a:p>
          <a:p>
            <a:pPr>
              <a:spcAft>
                <a:spcPts val="6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Bookings/user/year: 3.0 → 5.0 → 7.0</a:t>
            </a:r>
          </a:p>
          <a:p>
            <a:pPr>
              <a:spcAft>
                <a:spcPts val="6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Avg booking value: RM 280 → 320 → 350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3F5E"/>
                </a:solidFill>
                <a:latin typeface="Calibri"/>
              </a:defRPr>
            </a:pPr>
            <a:r>
              <a:t>Financial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Commission rate: 20% of each booking</a:t>
            </a:r>
          </a:p>
          <a:p>
            <a:pPr>
              <a:spcAft>
                <a:spcPts val="6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Gross margin: 80% → 95% (marketplace model)</a:t>
            </a:r>
          </a:p>
          <a:p>
            <a:pPr>
              <a:spcAft>
                <a:spcPts val="6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Payment processing: 2.5% of GMV</a:t>
            </a:r>
          </a:p>
          <a:p>
            <a:pPr>
              <a:spcAft>
                <a:spcPts val="6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Marketing spend: 15–25% of revenue</a:t>
            </a:r>
          </a:p>
          <a:p>
            <a:pPr>
              <a:spcAft>
                <a:spcPts val="6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Team: 4 FTE (Y1) → 8 FTE (Y2) → 16 FTE (Y3)</a:t>
            </a:r>
          </a:p>
          <a:p>
            <a:pPr>
              <a:spcAft>
                <a:spcPts val="6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Tax rate: 17% effective (Malaysian SME)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3F5E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KL &amp; Selangor service area expansion</a:t>
            </a:r>
          </a:p>
          <a:p>
            <a:pPr>
              <a:spcAft>
                <a:spcPts val="6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Artist growth: 20 → 60 → 150 cumulative</a:t>
            </a:r>
          </a:p>
          <a:p>
            <a:pPr>
              <a:spcAft>
                <a:spcPts val="6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Studio growth: 5 → 15 → 35 cumulative</a:t>
            </a:r>
          </a:p>
          <a:p>
            <a:pPr>
              <a:spcAft>
                <a:spcPts val="6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Repeat booking rate: 30% → 45% → 55%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2937"/>
                </a:solidFill>
                <a:latin typeface="Calibri"/>
              </a:defRPr>
            </a:pPr>
            <a:r>
              <a:t>Revenue Forecast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0584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89520" y="1005840"/>
          <a:ext cx="4114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914400"/>
                <a:gridCol w="914400"/>
              </a:tblGrid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Y1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Y2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Y3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Total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RM 762K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RM 4.3M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RM 16.7M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GMV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RM 2.2M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RM 22.9M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RM 86.9M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Bookings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7,779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71,500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260,000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Avg Booking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RM 280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RM 320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RM 350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Revenue 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467%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2937"/>
                </a:solidFill>
                <a:latin typeface="Calibri"/>
              </a:defRPr>
            </a:pPr>
            <a:r>
              <a:t>Cost Structure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1828800"/>
                <a:gridCol w="2743200"/>
              </a:tblGrid>
              <a:tr h="3556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Y1 (RM)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Y2 (RM)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Y3 (RM)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of Total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Fixed Costs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660,000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846,000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1,116,000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59% → 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  Salaries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490,000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620,000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850,000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  Office &amp; Legal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66,000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102,000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144,000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  Insurance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12,000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18,000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24,000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Variable Costs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462,000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900,000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1,488,000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41% → 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  Marketing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260,000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540,000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996,000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  Platform &amp; 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360,000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492,000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1,122,000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1,746,000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2,604,000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4572000"/>
          <a:ext cx="502920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4572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Calibri"/>
              </a:defRPr>
            </a:pPr>
            <a:r>
              <a:t>Cost per Booking Trend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493776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Cost/Booking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RM 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RM 50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RM 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2937"/>
                </a:solidFill>
                <a:latin typeface="Calibri"/>
              </a:defRPr>
            </a:pPr>
            <a:r>
              <a:t>Profit &amp; Loss Projections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96926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1371600"/>
                <a:gridCol w="1097280"/>
                <a:gridCol w="1097280"/>
                <a:gridCol w="1097280"/>
              </a:tblGrid>
              <a:tr h="39188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 (RM)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Y1 Margin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Y2 Margin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Y3 Margin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762,336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4,323,200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16,684,000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Cost of Revenue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(54,453)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(280,000)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(875,000)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Gross Profit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707,883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4,043,200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15,809,000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Total Operating Costs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(1,122,000)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(1,746,000)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(2,604,000)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(414,117)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2,297,200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13,205,000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-54%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Net Income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(414,117)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1,906,676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10,960,150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-54%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66%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4114800"/>
          <a:ext cx="50292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4114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480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Year 1: Investment phase, negative EBITDA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Year 2: Turnaround — positive EBITDA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Year 3: Strong profitability at 79% margin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Gross margin expands from 93% → 95%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Operating leverage drives margin expansion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2937"/>
                </a:solidFill>
                <a:latin typeface="Calibri"/>
              </a:defRPr>
            </a:pPr>
            <a:r>
              <a:t>Unit Economics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9601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371600"/>
                <a:gridCol w="1371600"/>
                <a:gridCol w="1828800"/>
                <a:gridCol w="9144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CAC (RM)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&lt; RM 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ARPU (RM)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508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721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927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&gt; RM 300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LTV (RM)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1,524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2,163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2,781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&gt; RM 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LTV:CAC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8.5x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18.0x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30.9x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&gt; 3x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Payback (months)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&lt;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Gross Margin/Booking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RM 112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RM 144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RM 170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&gt; RM 80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Bookings to Cover CAC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8.6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&lt;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Gross Margin 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93%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94%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&gt; 70%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Magic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6.40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&gt; 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5029200"/>
          <a:ext cx="5029200" cy="1645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2937"/>
                </a:solidFill>
                <a:latin typeface="Calibri"/>
              </a:defRPr>
            </a:pPr>
            <a:r>
              <a:t>Break-even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5029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</a:tblGrid>
              <a:tr h="4000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Fixed Costs (monthly avg, Y1)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RM 55,000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Contribution Margin per Booking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RM 112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Break-even Bookings/month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491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Break-even Revenue/month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RM 137,480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Break-even Month (base case)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Month 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Break-even Month (optimistic)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Month 14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Break-even Month (conservative)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Month 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Calibri"/>
              </a:defRPr>
            </a:pPr>
            <a:r>
              <a:t>Monthly Path to Profitability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55448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1188720"/>
                <a:gridCol w="914400"/>
                <a:gridCol w="1097280"/>
              </a:tblGrid>
              <a:tr h="39188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Bookings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Revenue (RM)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Costs (RM)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Month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30,780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93,500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Burning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Month 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900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56,000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93,500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Burning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Month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1,320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84,640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93,500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Near breakeven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Month 15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2,200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165,000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110,000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Profitable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Month 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Profitable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Month 24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5,500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462,000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155,000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Profitable 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2937"/>
                </a:solidFill>
                <a:latin typeface="Calibri"/>
              </a:defRPr>
            </a:pPr>
            <a:r>
              <a:t>Scenario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058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2286000"/>
                <a:gridCol w="2286000"/>
              </a:tblGrid>
              <a:tr h="3740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Conservative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Case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Optimistic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Year 1 Revenue (RM)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400,000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762,336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1,500,000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Year 2 Revenue (RM)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1,200,000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4,323,200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8,000,000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Year 3 Revenue (RM)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16,684,000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35,000,000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Year 1 EBITDA (RM)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(600,000)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(414,117)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200,000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Year 2 EBITDA (RM)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(200,000)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2,297,200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4,500,000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Year 3 EBITDA (RM)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600,000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13,205,000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28,000,000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Break-even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Seed Runway (months)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Series A Timing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Month 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Month 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Month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8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3-Year ROI (on seed)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2.5x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14x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30x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Key Sensitivities: ±20% change in avg booking value → ±15% revenue impact | CAC +50% → LTV:CAC drops to 5.7x | User growth +50% → Revenue +40–60%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2937"/>
                </a:solidFill>
                <a:latin typeface="Calibri"/>
              </a:defRPr>
            </a:pPr>
            <a:r>
              <a:t>Funding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5029200" cy="1371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3F5E"/>
                </a:solidFill>
                <a:latin typeface="Calibri"/>
              </a:defRPr>
            </a:pPr>
            <a:r>
              <a:t>Seed Round: RM 1,200,000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18-month runway | Series A at Month 18 | RM 5–8M target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74320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1371600"/>
                <a:gridCol w="4114800"/>
              </a:tblGrid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Allocation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Amount (RM)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Milestone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Product 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480,000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Platform rebuild, launch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Marketing &amp; Acquisition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360,000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User growth, artist onboarding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Team (4 FTE)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240,000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Engineers, growth, 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Operations &amp; Legal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120,000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Compliance, insurance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1,200,000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Calibri"/>
              </a:defRPr>
            </a:pPr>
            <a:r>
              <a:t>Funding Timeline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Aug 2026 — Seed Round (RM 1.2M) → Platform launch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Dec 2027 (Month 18) — Series A (RM 5–8M) → Scale &amp; B2B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Mid 2029 (Month 30) — Series B (RM 20–30M) → National expansion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2937"/>
                </a:solidFill>
                <a:latin typeface="Calibri"/>
              </a:defRPr>
            </a:pPr>
            <a:r>
              <a:t>Risks &amp; Mitigations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914400"/>
                <a:gridCol w="54864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Slow user acquisition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Diversify channels; beauty school &amp; HR partnerships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Artist churn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Tiered commission; loyalty bonuses; artist programs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Global platform competition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Local expertise; community; MUA specialization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Payment fraud/disputes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HitPay escrow; verification; insurance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Economic downturn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Affordable tier; B2B packages; cost discipline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Regulatory changes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PDPA compliance; legal budget; TOS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Technology scalability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Next.js + Vercel auto-scaling; DB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Key person dependency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Process documentation; cross-training; equity retention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2937"/>
                </a:solidFill>
                <a:latin typeface="Calibri"/>
              </a:defRPr>
            </a:pPr>
            <a:r>
              <a:t>Key Milestones &amp; Timeline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515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0292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Quarter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Financial Impact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Q3 FY26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Platform launch (Next.js migration)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Revenue begins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Q4 FY26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500+ users, 1,000+ bookings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RM 85K revenue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Q1 FY27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1,000+ users, first B2B partnership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RM 520K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Q2 FY27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3,000+ users, studio integration live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RM 1.08M revenue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Q3 FY27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Break-even achieved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Positive 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Q4 FY27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6,000+ users, Series A ready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RM 4.3M revenue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Q1 FY28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10,000+ users, loyalty program launch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RM 1.2M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Q2 FY28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15,000+ users, B2B scale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RM 2.8M revenue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Q4 FY28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18,000+ users, Series B 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RM 16.7M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  <a:latin typeface="Calibri"/>
              </a:defRPr>
            </a:pPr>
            <a:r>
              <a:t>Leish.my — Financial Forecast FY 2026–2029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Confidential — Prepared for Seed 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Contact: hello@leish.my | WhatsApp: +601137633788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