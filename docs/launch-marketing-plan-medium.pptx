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LEISH.MY · LAUNCH MARKETING PLAN · 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Medium Budget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CA3AF"/>
                </a:solidFill>
                <a:latin typeface="Calibri"/>
              </a:rPr>
              <a:t>Never DM for a Date Again. — official launch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October 5,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11880"/>
            <a:ext cx="329184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67328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TOTAL BUDGET</a:t>
            </a:r>
          </a:p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RM 40,000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611880"/>
            <a:ext cx="3749039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767328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DAY-90 HEADLINE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800 clients · 40–45 artists · 15–20 bookings/wk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611880"/>
            <a:ext cx="329184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767328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LAUNCH DATE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Oct 5,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CA3AF"/>
                </a:solidFill>
                <a:latin typeface="Calibri"/>
              </a:rPr>
              <a:t>Founder + one part-time marketer. Co-hosted pop-up launch, one micro-KOL wave, Meta + narrow Google. Lean execution, same wedding-season timing.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The Play — Medium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6616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Lean paid, high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Meta RM 12k + Google RM 4k (brand + top-10 keywords). No TikTok ads. Retargeting gets 20% of Meta budget. Every ad set gated at 2x ROAS after 2 weeks.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828800"/>
            <a:ext cx="356616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Co-hosted pop-up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Partner studios host the venue; Leish! brings booking tech + offers. One wedding expo OR pop-up — decide by lead-cost projection by Sep 15.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356616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GROWTH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Commission-heavy KOLs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6–8 micro creators (10k–50k), 50% flat / 50% booking-code commission (10% of GMV) so they self-motivate. One wave, then referral program from Day 30.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91672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B2777"/>
                </a:solidFill>
                <a:latin typeface="Calibri"/>
              </a:rPr>
              <a:t>Artist gate before Day 0: 25 bookable artists by Sep 28 · Campaign: Never DM for a date again · Hero categories: Bridal · Hijab · Event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RM 40,000 ·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Budget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56231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Meta ads (IG + FB, incl. 20% retargeting)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85623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12,000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11095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911095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78440" y="1856231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6829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KOLs — 1 wave, 6–8 micro (10k–50k)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6829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23160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2423160"/>
            <a:ext cx="708660" cy="21945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236829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Events — 1 co-hosted pop-up OR 1 wedding expo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8803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6,000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935224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935224"/>
            <a:ext cx="425196" cy="21945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288036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924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Google Search (brand + top-10 keywords)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392424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4,000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447288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3447288"/>
            <a:ext cx="283464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339242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0448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Community / campus seeding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9044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3,000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959352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3959352"/>
            <a:ext cx="212598" cy="219456"/>
          </a:xfrm>
          <a:prstGeom prst="roundRect">
            <a:avLst>
              <a:gd name="adj" fmla="val 50000"/>
            </a:avLst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39044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Artist acquisition (concierge + referral)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41655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3,000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471416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06640" y="4471416"/>
            <a:ext cx="212598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441655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2861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PR (direct pitching), design &amp;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92861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2,000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4983480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06640" y="4983480"/>
            <a:ext cx="141732" cy="219456"/>
          </a:xfrm>
          <a:prstGeom prst="roundRect">
            <a:avLst>
              <a:gd name="adj" fmla="val 50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492861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80644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Payback logic: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CAC ≤ RM 25 → client LTV RM 90–150 (2–3 bookings × RM 300 × 20%). Payback in 1–2 bookings; ROAS gate ≥ 2.5x.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NORTH-STAR METRIC: COMPLETED BOOKINGS PER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Day-90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91440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11D48"/>
                </a:solidFill>
                <a:latin typeface="Georgia"/>
              </a:rPr>
              <a:t>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Registered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828800"/>
            <a:ext cx="91440" cy="12344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DB2777"/>
                </a:solidFill>
                <a:latin typeface="Georgia"/>
              </a:rPr>
              <a:t>40–45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Active artists &amp; studios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828800"/>
            <a:ext cx="91440" cy="1234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8B5CF6"/>
                </a:solidFill>
                <a:latin typeface="Georgia"/>
              </a:rPr>
              <a:t>15–20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Bookings /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91440" cy="1234440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E9492"/>
                </a:solidFill>
                <a:latin typeface="Georgia"/>
              </a:rPr>
              <a:t>RM 4.5–6k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GMV / week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20040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D97706"/>
                </a:solidFill>
                <a:latin typeface="Georgia"/>
              </a:rPr>
              <a:t>≤ RM 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Client CAC (paid)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320040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7C3AED"/>
                </a:solidFill>
                <a:latin typeface="Georgia"/>
              </a:rPr>
              <a:t>≥ 2.5x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Blended ROAS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PROGRESSION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48640" y="4983480"/>
          <a:ext cx="1108252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64792"/>
                <a:gridCol w="1764792"/>
                <a:gridCol w="1764792"/>
                <a:gridCol w="1764792"/>
              </a:tblGrid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Pre-launch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30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60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90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Waitlist / clients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1,000 waitlist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550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Weekly bookings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6–8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15–20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Commission / wk (20%)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400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700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900–1,200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Email list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Social following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3,800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Four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27432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11D48"/>
                </a:solidFill>
                <a:latin typeface="Calibri"/>
              </a:rPr>
              <a:t>PHASE 0 · PRE-LAUNCH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Aug 10 – Oct 4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17296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Green-light Aug 10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90448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Waitlist live Aug 31 (RM30 offer)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63600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25 anchor artists, concierge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536752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Teaser content 2x/wk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609904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603504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KOLs contracted by Sep 21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683056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6766559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Paid test Sep 28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0712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10712" y="1874519"/>
            <a:ext cx="274320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B2777"/>
                </a:solidFill>
                <a:latin typeface="Calibri"/>
              </a:rPr>
              <a:t>PHASE 1 · LAUNCH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Oct 5 – 11</a:t>
            </a:r>
          </a:p>
        </p:txBody>
      </p:sp>
      <p:sp>
        <p:nvSpPr>
          <p:cNvPr id="26" name="Oval 25"/>
          <p:cNvSpPr/>
          <p:nvPr/>
        </p:nvSpPr>
        <p:spPr>
          <a:xfrm>
            <a:off x="3666744" y="317296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9624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Co-hosted pop-up with partner studios</a:t>
            </a:r>
          </a:p>
        </p:txBody>
      </p:sp>
      <p:sp>
        <p:nvSpPr>
          <p:cNvPr id="28" name="Oval 27"/>
          <p:cNvSpPr/>
          <p:nvPr/>
        </p:nvSpPr>
        <p:spPr>
          <a:xfrm>
            <a:off x="3666744" y="390448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9624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6–8 micro KOLs post</a:t>
            </a:r>
          </a:p>
        </p:txBody>
      </p:sp>
      <p:sp>
        <p:nvSpPr>
          <p:cNvPr id="30" name="Oval 29"/>
          <p:cNvSpPr/>
          <p:nvPr/>
        </p:nvSpPr>
        <p:spPr>
          <a:xfrm>
            <a:off x="3666744" y="463600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9624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Direct-journalist PR pitch</a:t>
            </a:r>
          </a:p>
        </p:txBody>
      </p:sp>
      <p:sp>
        <p:nvSpPr>
          <p:cNvPr id="32" name="Oval 31"/>
          <p:cNvSpPr/>
          <p:nvPr/>
        </p:nvSpPr>
        <p:spPr>
          <a:xfrm>
            <a:off x="3666744" y="536752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9624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Meta + Google full ON</a:t>
            </a:r>
          </a:p>
        </p:txBody>
      </p:sp>
      <p:sp>
        <p:nvSpPr>
          <p:cNvPr id="34" name="Oval 33"/>
          <p:cNvSpPr/>
          <p:nvPr/>
        </p:nvSpPr>
        <p:spPr>
          <a:xfrm>
            <a:off x="3666744" y="609904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9624" y="603504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LEISH30 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3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2783" y="1874519"/>
            <a:ext cx="27432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3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B5CF6"/>
                </a:solidFill>
                <a:latin typeface="Calibri"/>
              </a:rPr>
              <a:t>PHASE 2 · WEDDING SEASON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1383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Oct 12 – Dec 31</a:t>
            </a:r>
          </a:p>
        </p:txBody>
      </p:sp>
      <p:sp>
        <p:nvSpPr>
          <p:cNvPr id="40" name="Oval 39"/>
          <p:cNvSpPr/>
          <p:nvPr/>
        </p:nvSpPr>
        <p:spPr>
          <a:xfrm>
            <a:off x="6528816" y="317296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Referral program Day 30 (RM15/RM15)</a:t>
            </a:r>
          </a:p>
        </p:txBody>
      </p:sp>
      <p:sp>
        <p:nvSpPr>
          <p:cNvPr id="42" name="Oval 41"/>
          <p:cNvSpPr/>
          <p:nvPr/>
        </p:nvSpPr>
        <p:spPr>
          <a:xfrm>
            <a:off x="6528816" y="390448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11696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1 expo booth OR 2 campus pop-ups</a:t>
            </a:r>
          </a:p>
        </p:txBody>
      </p:sp>
      <p:sp>
        <p:nvSpPr>
          <p:cNvPr id="44" name="Oval 43"/>
          <p:cNvSpPr/>
          <p:nvPr/>
        </p:nvSpPr>
        <p:spPr>
          <a:xfrm>
            <a:off x="6528816" y="463600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11696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Hijab community push (Nov)</a:t>
            </a:r>
          </a:p>
        </p:txBody>
      </p:sp>
      <p:sp>
        <p:nvSpPr>
          <p:cNvPr id="46" name="Oval 45"/>
          <p:cNvSpPr/>
          <p:nvPr/>
        </p:nvSpPr>
        <p:spPr>
          <a:xfrm>
            <a:off x="6528816" y="536752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B2B light — 2–3 pitches</a:t>
            </a:r>
          </a:p>
        </p:txBody>
      </p:sp>
      <p:sp>
        <p:nvSpPr>
          <p:cNvPr id="48" name="Oval 47"/>
          <p:cNvSpPr/>
          <p:nvPr/>
        </p:nvSpPr>
        <p:spPr>
          <a:xfrm>
            <a:off x="6528816" y="609904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11696" y="603504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1 blog/mo SEO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34855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34855" y="1874519"/>
            <a:ext cx="2743200" cy="128016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63455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492"/>
                </a:solidFill>
                <a:latin typeface="Calibri"/>
              </a:rPr>
              <a:t>PHASE 3 · 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63455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Jan 2027</a:t>
            </a:r>
          </a:p>
        </p:txBody>
      </p:sp>
      <p:sp>
        <p:nvSpPr>
          <p:cNvPr id="54" name="Oval 53"/>
          <p:cNvSpPr/>
          <p:nvPr/>
        </p:nvSpPr>
        <p:spPr>
          <a:xfrm>
            <a:off x="9390887" y="317296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73767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Score vs Day-90 targets</a:t>
            </a:r>
          </a:p>
        </p:txBody>
      </p:sp>
      <p:sp>
        <p:nvSpPr>
          <p:cNvPr id="56" name="Oval 55"/>
          <p:cNvSpPr/>
          <p:nvPr/>
        </p:nvSpPr>
        <p:spPr>
          <a:xfrm>
            <a:off x="9390887" y="390448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73767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≥12 bookings/wk + CAC ≤ RM 25 →</a:t>
            </a:r>
          </a:p>
        </p:txBody>
      </p:sp>
      <p:sp>
        <p:nvSpPr>
          <p:cNvPr id="58" name="Oval 57"/>
          <p:cNvSpPr/>
          <p:nvPr/>
        </p:nvSpPr>
        <p:spPr>
          <a:xfrm>
            <a:off x="9390887" y="463600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73767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upgrade to High for CNY</a:t>
            </a:r>
          </a:p>
        </p:txBody>
      </p:sp>
      <p:sp>
        <p:nvSpPr>
          <p:cNvPr id="60" name="Oval 59"/>
          <p:cNvSpPr/>
          <p:nvPr/>
        </p:nvSpPr>
        <p:spPr>
          <a:xfrm>
            <a:off x="9390887" y="536752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73767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else fix or downgrade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CHANNEL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Owned · Paid · 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39312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11D48"/>
                </a:solidFill>
                <a:latin typeface="Georgia"/>
              </a:rPr>
              <a:t>OWNED — FOUNDATION</a:t>
            </a:r>
          </a:p>
        </p:txBody>
      </p:sp>
      <p:sp>
        <p:nvSpPr>
          <p:cNvPr id="9" name="Oval 8"/>
          <p:cNvSpPr/>
          <p:nvPr/>
        </p:nvSpPr>
        <p:spPr>
          <a:xfrm>
            <a:off x="841247" y="2679192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IG — 3–4 posts + 7 stories + 1 reel / wk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326440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TikTok — 2 reels / wk (repurposed)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849624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FB + bridal/beauty groups — daily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4434840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Email (Brevo) — sequence + 1 newsletter/mo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5020055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WhatsApp — confirmations + monthly broadcast</a:t>
            </a:r>
          </a:p>
        </p:txBody>
      </p:sp>
      <p:sp>
        <p:nvSpPr>
          <p:cNvPr id="19" name="Oval 18"/>
          <p:cNvSpPr/>
          <p:nvPr/>
        </p:nvSpPr>
        <p:spPr>
          <a:xfrm>
            <a:off x="841247" y="5605271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532119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SEO — 1 blog/mo on /inspiration + /events</a:t>
            </a:r>
          </a:p>
        </p:txBody>
      </p:sp>
      <p:sp>
        <p:nvSpPr>
          <p:cNvPr id="21" name="Oval 20"/>
          <p:cNvSpPr/>
          <p:nvPr/>
        </p:nvSpPr>
        <p:spPr>
          <a:xfrm>
            <a:off x="841247" y="6190487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6117335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Artist share links — always-on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1828800"/>
            <a:ext cx="3639312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B2777"/>
                </a:solidFill>
                <a:latin typeface="Georgia"/>
              </a:rPr>
              <a:t>PAID — RM 16K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2679192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Meta RM 12k — bridal/beauty stacks, KL-Selangor, 20–40</a:t>
            </a:r>
          </a:p>
        </p:txBody>
      </p:sp>
      <p:sp>
        <p:nvSpPr>
          <p:cNvPr id="28" name="Oval 27"/>
          <p:cNvSpPr/>
          <p:nvPr/>
        </p:nvSpPr>
        <p:spPr>
          <a:xfrm>
            <a:off x="4617720" y="326440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Retargeting = 20% of Meta budget</a:t>
            </a:r>
          </a:p>
        </p:txBody>
      </p:sp>
      <p:sp>
        <p:nvSpPr>
          <p:cNvPr id="30" name="Oval 29"/>
          <p:cNvSpPr/>
          <p:nvPr/>
        </p:nvSpPr>
        <p:spPr>
          <a:xfrm>
            <a:off x="4617720" y="3849624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Google RM 4k — brand + top-10 high-intent keywords</a:t>
            </a:r>
          </a:p>
        </p:txBody>
      </p:sp>
      <p:sp>
        <p:nvSpPr>
          <p:cNvPr id="32" name="Oval 31"/>
          <p:cNvSpPr/>
          <p:nvPr/>
        </p:nvSpPr>
        <p:spPr>
          <a:xfrm>
            <a:off x="4617720" y="4434840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No TikTok ads at this tier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5020055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Kill any ad set &lt;2x ROAS after 2 weeks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1583" y="1828800"/>
            <a:ext cx="3639312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B5CF6"/>
                </a:solidFill>
                <a:latin typeface="Georgia"/>
              </a:rPr>
              <a:t>EARNED + COMMUNITY — RM 19K</a:t>
            </a:r>
          </a:p>
        </p:txBody>
      </p:sp>
      <p:sp>
        <p:nvSpPr>
          <p:cNvPr id="39" name="Oval 38"/>
          <p:cNvSpPr/>
          <p:nvPr/>
        </p:nvSpPr>
        <p:spPr>
          <a:xfrm>
            <a:off x="8394192" y="267919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6–8 micro KOLs — 50/50 flat + booking commission</a:t>
            </a:r>
          </a:p>
        </p:txBody>
      </p:sp>
      <p:sp>
        <p:nvSpPr>
          <p:cNvPr id="41" name="Oval 40"/>
          <p:cNvSpPr/>
          <p:nvPr/>
        </p:nvSpPr>
        <p:spPr>
          <a:xfrm>
            <a:off x="8394192" y="326440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7072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1 co-hosted pop-up OR 1 wedding expo</a:t>
            </a:r>
          </a:p>
        </p:txBody>
      </p:sp>
      <p:sp>
        <p:nvSpPr>
          <p:cNvPr id="43" name="Oval 42"/>
          <p:cNvSpPr/>
          <p:nvPr/>
        </p:nvSpPr>
        <p:spPr>
          <a:xfrm>
            <a:off x="8394192" y="384962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2 campus pop-ups — Cyberjaya (MMU, Limkokwing)</a:t>
            </a:r>
          </a:p>
        </p:txBody>
      </p:sp>
      <p:sp>
        <p:nvSpPr>
          <p:cNvPr id="45" name="Oval 44"/>
          <p:cNvSpPr/>
          <p:nvPr/>
        </p:nvSpPr>
        <p:spPr>
          <a:xfrm>
            <a:off x="8394192" y="4434840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Direct PR pitch — SAYS, The Star, Malay Mail</a:t>
            </a:r>
          </a:p>
        </p:txBody>
      </p:sp>
      <p:sp>
        <p:nvSpPr>
          <p:cNvPr id="47" name="Oval 46"/>
          <p:cNvSpPr/>
          <p:nvPr/>
        </p:nvSpPr>
        <p:spPr>
          <a:xfrm>
            <a:off x="8394192" y="5020055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7072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Bridal FB group giveaways (RM 500)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LOCK BEFORE DAY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Launch Offers &amp; Promotions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CLIENT SIDE (DEMAND)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RM30 off first booking · cap 150 · valid to Day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93592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Early-bird bonus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5079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Waitlist members get RM30 + priority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581144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908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Refer-a-friend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38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RM15 credit each · live from Day 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54864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B5CF6"/>
                </a:solidFill>
                <a:latin typeface="Calibri"/>
              </a:rPr>
              <a:t>ARTIST SIDE (SUPPLY)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Free 3-month Pro 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Normally RM 200–500/mo · cap 30 artists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593592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7033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0% commission, first 10 bookings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5079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vs standard 20% · cap 20 artists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581144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6908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Artist referral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038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RM100 + featured slot on referee's 5th booking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⚠ Pre-launch dev task: verify promo-code / credit support in admin before Aug 24 (same as High tier).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WATCH WEEKLY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Small team = content slippage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828800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38528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Batch content weekly (2 blocks/wk); templates; outsource design per-asset.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16352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35224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Only 1 KOL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816352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926080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Commission-heavy 50/50 deals; secure 2-month UGC rights in contracts.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03904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22776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Thin paid budget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803904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913632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Kill &lt;2x ROAS ad sets after 2 weeks; 20% of Meta budget to retargeting.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91456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103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Artist gate not met (25)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4791456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901184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Start concierge Aug 31; fallback: extend free Pro to 6 months.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79008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Pop-up vs expo choice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5779008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5888736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Decide by lead-cost projection; book by Sep 15.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Guardrails: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artists idle 14+ days · no-show &lt;15% · artist response &lt;4 hrs · search→booking ≥2%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OWNER CHECKLIST + UPGRADE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Execute · Measure ·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30-DAY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Aug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5798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Confirm date +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7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79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Aug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79191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Part-time marketer hired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45535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7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Aug 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20039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Waitlist + RM30 offer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66744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39896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Sep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721607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KOL wave contracted (6–8)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87952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61104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Sep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4281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25 anchor artists (gate!)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8231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Oct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DAY 0 —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UPGRADE / DOWNGRADE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103120"/>
            <a:ext cx="1371600" cy="4572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Upgrade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148839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Day-60: ≥12 bookings/wk + CAC ≤ RM 25 + artist retention ≥ 80% → scale to High (RM 96k) for CNY season.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624327"/>
            <a:ext cx="1371600" cy="45720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697479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Downgrade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670047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Day-30: paid CAC &gt; RM 35 → cut Google + half of Meta; shift to community channels.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REMAINING CHECKLIST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486400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532120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Nov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532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Referral live · Day-30 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907024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952744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Dec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95274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Day-60 checkpoint → upgrade decision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6327648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6373368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Jan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63733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Day-90 review + Q1'27 plan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49240"/>
            <a:ext cx="539496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8640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GA4/Meta events verified Aug 31 · paid test Sep 28 → full Oct 5 · pop-up/expo locked by Sep 15.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Growth, with discipline.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A3AF"/>
                </a:solidFill>
                <a:latin typeface="Calibri"/>
              </a:rPr>
              <a:t>Full plan: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docs/launch-marketing-plan-medium.md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   ·   Tiers: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docs/launch-marketing-plan-tiers.md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Next step: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close the 5 tier risks and execute the 12-item checklist; Day-60 checkpoint decides upgrade to High.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CA3AF"/>
                </a:solidFill>
                <a:latin typeface="Calibri"/>
              </a:rPr>
              <a:t>#BookBeautyAnywhere  ·  #NeverDMForADate  ·  Your Beauty, Perfected.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Leish! Launch Marketing Plan — Medium Budget</dc:title>
  <dc:subject>90-day go-to-market plan — Oct 5, 2026</dc:subject>
  <dc:creator>Leish! (leish.my)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