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98480" y="-822960"/>
            <a:ext cx="2377440" cy="237744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80160" y="4937760"/>
            <a:ext cx="3474720" cy="34747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640080" y="5577840"/>
            <a:ext cx="2011680" cy="201168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LEISH.MY · LAUNCH MARKETING PLAN · 90 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Never DM for a Date Again.</a:t>
            </a:r>
          </a:p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CA3AF"/>
                </a:solidFill>
                <a:latin typeface="Calibri"/>
              </a:rPr>
              <a:t>Malaysia's beauty booking marketplace — official launch </a:t>
            </a:r>
            <a:r>
              <a:rPr sz="2000" b="1" i="0">
                <a:solidFill>
                  <a:srgbClr val="FFFFFF"/>
                </a:solidFill>
                <a:latin typeface="Calibri"/>
              </a:rPr>
              <a:t>October 5,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794760"/>
            <a:ext cx="402336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50208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TOTAL BUDGET</a:t>
            </a:r>
          </a:p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RM 96,000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3794760"/>
            <a:ext cx="402336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DB2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3950208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DAY-90 TARGETS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25–30 bookings/wk · 60+ artists · 1,500 clients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3794760"/>
            <a:ext cx="2240280" cy="1051560"/>
          </a:xfrm>
          <a:prstGeom prst="roundRect">
            <a:avLst>
              <a:gd name="adj" fmla="val 12000"/>
            </a:avLst>
          </a:prstGeom>
          <a:noFill/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3950208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9CA3AF"/>
                </a:solidFill>
                <a:latin typeface="Calibri"/>
              </a:rPr>
              <a:t>LAUNCH DATE</a:t>
            </a:r>
          </a:p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Oct 5,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CA3AF"/>
                </a:solidFill>
                <a:latin typeface="Calibri"/>
              </a:rPr>
              <a:t>Aligned with the FY26 financial forecast — Year-1 revenue RM 180–250k · 20% commission · avg booking RM 250–350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The 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56616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937"/>
                </a:solidFill>
                <a:latin typeface="Georgia"/>
              </a:rPr>
              <a:t>Beauty booking in Malaysia is broken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Clients DM 15 artists and wait days for a quote. Artists drown in DM chaos, ghosting and late payments. Nobody owns real-time MUA booking — that's Leish!'s wedge.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59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828800"/>
            <a:ext cx="356616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937"/>
                </a:solidFill>
                <a:latin typeface="Georgia"/>
              </a:rPr>
              <a:t>A two-sided marketplace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Clients book vetted makeup artists &amp; studios with real-time availability, instant confirmation and secure Billplz payment. Artists get portfolios, bookings, reminders and payouts.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356616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60604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2937"/>
                </a:solidFill>
                <a:latin typeface="Georgia"/>
              </a:rPr>
              <a:t>Both sides, supply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429000"/>
            <a:ext cx="2971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6B7280"/>
                </a:solidFill>
                <a:latin typeface="Calibri"/>
              </a:rPr>
              <a:t>Recruit 30 anchor artists before Day 0 (critical path), then drive client demand through paid, KOLs, events and PR. Launch at the peak of wedding season.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080760"/>
            <a:ext cx="3584448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121908"/>
            <a:ext cx="3584448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11D48"/>
                </a:solidFill>
                <a:latin typeface="Calibri"/>
              </a:rPr>
              <a:t>Launch theme: Never DM for a date again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0248" y="6080760"/>
            <a:ext cx="3584448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6121908"/>
            <a:ext cx="3584448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11D48"/>
                </a:solidFill>
                <a:latin typeface="Calibri"/>
              </a:rPr>
              <a:t>Artist theme: Get booked. Get paid.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6080760"/>
            <a:ext cx="3584448" cy="384048"/>
          </a:xfrm>
          <a:prstGeom prst="roundRect">
            <a:avLst>
              <a:gd name="adj" fmla="val 50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91856" y="6121908"/>
            <a:ext cx="3584448" cy="301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11D48"/>
                </a:solidFill>
                <a:latin typeface="Calibri"/>
              </a:rPr>
              <a:t>Hero categories: Bridal · Hijab · Event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Two messages, one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2468880"/>
          </a:xfrm>
          <a:prstGeom prst="roundRect">
            <a:avLst>
              <a:gd name="adj" fmla="val 7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24688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11D48"/>
                </a:solidFill>
                <a:latin typeface="Calibri"/>
              </a:rPr>
              <a:t>TO 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2937"/>
                </a:solidFill>
                <a:latin typeface="Georgia"/>
              </a:rPr>
              <a:t>“Book Malaysia's top makeup artists &amp; studios in minutes — real-time availability, instant confirmation, secure payment.”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486400" cy="2468880"/>
          </a:xfrm>
          <a:prstGeom prst="roundRect">
            <a:avLst>
              <a:gd name="adj" fmla="val 7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109728" cy="2468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B5CF6"/>
                </a:solidFill>
                <a:latin typeface="Calibri"/>
              </a:rPr>
              <a:t>TO ARTISTS &amp; STUDIOS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9377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F2937"/>
                </a:solidFill>
                <a:latin typeface="Georgia"/>
              </a:rPr>
              <a:t>“Get booked. Get paid. Your portfolio, your pricing, zero admin — we handle bookings, reminders and payments.”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WHAT THE PLATFORM ALREADY HAS — USE 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D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Instant booking + Billplz payments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288" y="493776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7016" y="4983480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Real-time availability &amp; reviews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493776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D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4983480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Artist/studio profiles with portfolios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68112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51383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Rewards + Leish+ (RM29/mo) upsell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47288" y="5468112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D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7016" y="551383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WhatsApp booking 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5936" y="5468112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5513832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Brevo email (hello@leish.my)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998464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DD1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044184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GA4 + Meta Pixel installed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47288" y="5998464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57016" y="6044184"/>
            <a:ext cx="2606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2937"/>
                </a:solidFill>
                <a:latin typeface="Calibri"/>
              </a:rPr>
              <a:t>Artist shareable profile links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Four phases, one launch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27432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PHASE 0 · PRE-LAUNCH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Aug 10 – Oct 4</a:t>
            </a:r>
          </a:p>
        </p:txBody>
      </p:sp>
      <p:sp>
        <p:nvSpPr>
          <p:cNvPr id="10" name="Oval 9"/>
          <p:cNvSpPr/>
          <p:nvPr/>
        </p:nvSpPr>
        <p:spPr>
          <a:xfrm>
            <a:off x="804672" y="317296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108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Waitlist live with RM30 offer</a:t>
            </a:r>
          </a:p>
        </p:txBody>
      </p:sp>
      <p:sp>
        <p:nvSpPr>
          <p:cNvPr id="12" name="Oval 11"/>
          <p:cNvSpPr/>
          <p:nvPr/>
        </p:nvSpPr>
        <p:spPr>
          <a:xfrm>
            <a:off x="804672" y="388620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822191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Recruit 30 anchor artists (concierge)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59943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53542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Teaser social 3x/wk + countdown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5312664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248656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GA4/Pixel events + Brevo sequences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0712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0712" y="1874519"/>
            <a:ext cx="2743200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B2777"/>
                </a:solidFill>
                <a:latin typeface="Calibri"/>
              </a:rPr>
              <a:t>PHASE 1 · LAUNCH WEEK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Oct 5 – 11</a:t>
            </a:r>
          </a:p>
        </p:txBody>
      </p:sp>
      <p:sp>
        <p:nvSpPr>
          <p:cNvPr id="22" name="Oval 21"/>
          <p:cNvSpPr/>
          <p:nvPr/>
        </p:nvSpPr>
        <p:spPr>
          <a:xfrm>
            <a:off x="3666744" y="317296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624" y="3108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“Never DM for a date again” campaign</a:t>
            </a:r>
          </a:p>
        </p:txBody>
      </p:sp>
      <p:sp>
        <p:nvSpPr>
          <p:cNvPr id="24" name="Oval 23"/>
          <p:cNvSpPr/>
          <p:nvPr/>
        </p:nvSpPr>
        <p:spPr>
          <a:xfrm>
            <a:off x="3666744" y="3886200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9624" y="3822191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KL launch pop-up + press event</a:t>
            </a:r>
          </a:p>
        </p:txBody>
      </p:sp>
      <p:sp>
        <p:nvSpPr>
          <p:cNvPr id="26" name="Oval 25"/>
          <p:cNvSpPr/>
          <p:nvPr/>
        </p:nvSpPr>
        <p:spPr>
          <a:xfrm>
            <a:off x="3666744" y="4599432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9624" y="453542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Wave 1: 8–12 micro KOLs</a:t>
            </a:r>
          </a:p>
        </p:txBody>
      </p:sp>
      <p:sp>
        <p:nvSpPr>
          <p:cNvPr id="28" name="Oval 27"/>
          <p:cNvSpPr/>
          <p:nvPr/>
        </p:nvSpPr>
        <p:spPr>
          <a:xfrm>
            <a:off x="3666744" y="5312664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9624" y="5248656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Meta + Google paid ON, PR 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3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2783" y="1874519"/>
            <a:ext cx="27432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1383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PHASE 2 · WEDDING SEASON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1383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Oct 12 – Dec 31</a:t>
            </a:r>
          </a:p>
        </p:txBody>
      </p:sp>
      <p:sp>
        <p:nvSpPr>
          <p:cNvPr id="34" name="Oval 33"/>
          <p:cNvSpPr/>
          <p:nvPr/>
        </p:nvSpPr>
        <p:spPr>
          <a:xfrm>
            <a:off x="6528816" y="317296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108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Wave 2 KOLs + client UGC</a:t>
            </a:r>
          </a:p>
        </p:txBody>
      </p:sp>
      <p:sp>
        <p:nvSpPr>
          <p:cNvPr id="36" name="Oval 35"/>
          <p:cNvSpPr/>
          <p:nvPr/>
        </p:nvSpPr>
        <p:spPr>
          <a:xfrm>
            <a:off x="6528816" y="388620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11696" y="3822191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Referral program live (Day 30)</a:t>
            </a:r>
          </a:p>
        </p:txBody>
      </p:sp>
      <p:sp>
        <p:nvSpPr>
          <p:cNvPr id="38" name="Oval 37"/>
          <p:cNvSpPr/>
          <p:nvPr/>
        </p:nvSpPr>
        <p:spPr>
          <a:xfrm>
            <a:off x="6528816" y="459943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11696" y="453542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Wedding expos + hijab push</a:t>
            </a:r>
          </a:p>
        </p:txBody>
      </p:sp>
      <p:sp>
        <p:nvSpPr>
          <p:cNvPr id="40" name="Oval 39"/>
          <p:cNvSpPr/>
          <p:nvPr/>
        </p:nvSpPr>
        <p:spPr>
          <a:xfrm>
            <a:off x="6528816" y="531266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5248656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B2B corporate + Leish+ pilot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34855" y="1874519"/>
            <a:ext cx="274320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34855" y="1874519"/>
            <a:ext cx="2743200" cy="128016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5" y="21945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492"/>
                </a:solidFill>
                <a:latin typeface="Calibri"/>
              </a:rPr>
              <a:t>PHASE 3 ·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26974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Calibri"/>
              </a:rPr>
              <a:t>Jan 2027</a:t>
            </a:r>
          </a:p>
        </p:txBody>
      </p:sp>
      <p:sp>
        <p:nvSpPr>
          <p:cNvPr id="46" name="Oval 45"/>
          <p:cNvSpPr/>
          <p:nvPr/>
        </p:nvSpPr>
        <p:spPr>
          <a:xfrm>
            <a:off x="9390887" y="3172968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73767" y="3108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Score vs Day-90 targets</a:t>
            </a:r>
          </a:p>
        </p:txBody>
      </p:sp>
      <p:sp>
        <p:nvSpPr>
          <p:cNvPr id="48" name="Oval 47"/>
          <p:cNvSpPr/>
          <p:nvPr/>
        </p:nvSpPr>
        <p:spPr>
          <a:xfrm>
            <a:off x="9390887" y="3886200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7" y="3822191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Cohort/LTV analysis</a:t>
            </a:r>
          </a:p>
        </p:txBody>
      </p:sp>
      <p:sp>
        <p:nvSpPr>
          <p:cNvPr id="50" name="Oval 49"/>
          <p:cNvSpPr/>
          <p:nvPr/>
        </p:nvSpPr>
        <p:spPr>
          <a:xfrm>
            <a:off x="9390887" y="4599432"/>
            <a:ext cx="82296" cy="82296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73767" y="4535424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Q1'27 plan + expansion cities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NORTH-STAR METRIC: COMPLETED BOOKINGS PER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Day-90 Targets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91440" cy="123444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E11D48"/>
                </a:solidFill>
                <a:latin typeface="Georgia"/>
              </a:rPr>
              <a:t>1,500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Registered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828800"/>
            <a:ext cx="91440" cy="12344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DB2777"/>
                </a:solidFill>
                <a:latin typeface="Georgia"/>
              </a:rPr>
              <a:t>60+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Active artists &amp; studios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1828800"/>
            <a:ext cx="91440" cy="1234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9933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8B5CF6"/>
                </a:solidFill>
                <a:latin typeface="Georgia"/>
              </a:rPr>
              <a:t>25–30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6060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Bookings / week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200400"/>
            <a:ext cx="91440" cy="1234440"/>
          </a:xfrm>
          <a:prstGeom prst="rect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9492"/>
                </a:solidFill>
                <a:latin typeface="Georgia"/>
              </a:rPr>
              <a:t>RM 7–9k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GMV / week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79392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200400"/>
            <a:ext cx="91440" cy="1234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9431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D97706"/>
                </a:solidFill>
                <a:latin typeface="Georgia"/>
              </a:rPr>
              <a:t>≤ RM 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1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Client CAC (paid)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320040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0144" y="3200400"/>
            <a:ext cx="91440" cy="1234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0183" y="336499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7C3AED"/>
                </a:solidFill>
                <a:latin typeface="Georgia"/>
              </a:rPr>
              <a:t>2.5–3.5x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397763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Blended ROAS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48640" y="4892040"/>
          <a:ext cx="11082528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764792"/>
                <a:gridCol w="1764792"/>
                <a:gridCol w="1764792"/>
                <a:gridCol w="1764792"/>
              </a:tblGrid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Pre-launch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30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60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Day 90</a:t>
                      </a:r>
                    </a:p>
                  </a:txBody>
                  <a:tcPr marL="109728" marR="109728" marT="27432" marB="27432" anchor="ctr">
                    <a:solidFill>
                      <a:srgbClr val="1F2937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Waitlist / clients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2,000 waitlist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1,000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1,500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Weekly bookings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25–30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Commission revenue / wk (20%)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RM 700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RM 1,200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RM 1,500–1,800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Email list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4,000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5,000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109728" marR="109728" marT="27432" marB="27432" anchor="ctr">
                    <a:solidFill>
                      <a:srgbClr val="FBF7FB"/>
                    </a:solidFill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Social following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3,000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8,000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10,000</a:t>
                      </a:r>
                    </a:p>
                  </a:txBody>
                  <a:tcPr marL="109728" marR="10972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RM 96,000 · 90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Budget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56231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Meta ads (IG + FB, incl. retargeting)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85623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29,000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11095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911095"/>
            <a:ext cx="850392" cy="21945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78440" y="1856231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6829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Influencers / KOLs (2 waves, 16–18 creators)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236829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24,000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42316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06640" y="2423160"/>
            <a:ext cx="708660" cy="219456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236829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80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Google Search + PMax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88036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12,000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935224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6640" y="2935224"/>
            <a:ext cx="368503" cy="21945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78440" y="288036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924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Events — launch pop-up + wedding expos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9242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12,000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3447288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3447288"/>
            <a:ext cx="368503" cy="21945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3392424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13%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0448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TikTok ads (Spark on creator content)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90448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6,000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3959352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06640" y="3959352"/>
            <a:ext cx="170078" cy="219456"/>
          </a:xfrm>
          <a:prstGeom prst="roundRect">
            <a:avLst>
              <a:gd name="adj" fmla="val 50000"/>
            </a:avLst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39044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4165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Artist acquisition (ads + webinar)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441655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6,000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4471416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06640" y="4471416"/>
            <a:ext cx="170078" cy="21945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4416552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28616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Community / campus seeding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6440" y="492861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4,000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06640" y="4983480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06640" y="4983480"/>
            <a:ext cx="113385" cy="219456"/>
          </a:xfrm>
          <a:prstGeom prst="roundRect">
            <a:avLst>
              <a:gd name="adj" fmla="val 500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4928616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44068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PR &amp; media kit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544068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6B7280"/>
                </a:solidFill>
                <a:latin typeface="Calibri"/>
              </a:rPr>
              <a:t>RM 3,000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06640" y="5495544"/>
            <a:ext cx="2834640" cy="219456"/>
          </a:xfrm>
          <a:prstGeom prst="roundRect">
            <a:avLst>
              <a:gd name="adj" fmla="val 50000"/>
            </a:avLst>
          </a:prstGeom>
          <a:solidFill>
            <a:srgbClr val="F1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406640" y="5495544"/>
            <a:ext cx="85039" cy="219456"/>
          </a:xfrm>
          <a:prstGeom prst="roundRect">
            <a:avLst>
              <a:gd name="adj" fmla="val 50000"/>
            </a:avLst>
          </a:prstGeom>
          <a:solidFill>
            <a:srgbClr val="947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544068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1F2937"/>
                </a:solidFill>
                <a:latin typeface="Calibri"/>
              </a:rPr>
              <a:t>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98932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Payback logic: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blended CAC RM20 → client LTV RM 90–150 (2–3 bookings × RM 300 × 20%). CAC pays back in 1–2 bookings. Kill or scale by ROAS weekly — this is a growth test, not a burn.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CHANNEL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Owned · Paid · 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3639312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11D48"/>
                </a:solidFill>
                <a:latin typeface="Georgia"/>
              </a:rPr>
              <a:t>OWNED — foundation</a:t>
            </a:r>
          </a:p>
        </p:txBody>
      </p:sp>
      <p:sp>
        <p:nvSpPr>
          <p:cNvPr id="9" name="Oval 8"/>
          <p:cNvSpPr/>
          <p:nvPr/>
        </p:nvSpPr>
        <p:spPr>
          <a:xfrm>
            <a:off x="841247" y="267919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Instagram — 4–5 posts + 10 stories + 2 reels / wk</a:t>
            </a:r>
          </a:p>
        </p:txBody>
      </p:sp>
      <p:sp>
        <p:nvSpPr>
          <p:cNvPr id="11" name="Oval 10"/>
          <p:cNvSpPr/>
          <p:nvPr/>
        </p:nvSpPr>
        <p:spPr>
          <a:xfrm>
            <a:off x="841247" y="324612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7296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TikTok — 3–4 UGC-style reels / wk</a:t>
            </a:r>
          </a:p>
        </p:txBody>
      </p:sp>
      <p:sp>
        <p:nvSpPr>
          <p:cNvPr id="13" name="Oval 12"/>
          <p:cNvSpPr/>
          <p:nvPr/>
        </p:nvSpPr>
        <p:spPr>
          <a:xfrm>
            <a:off x="841247" y="3813048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39896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Facebook + bridal/beauty groups — daily participation</a:t>
            </a:r>
          </a:p>
        </p:txBody>
      </p:sp>
      <p:sp>
        <p:nvSpPr>
          <p:cNvPr id="15" name="Oval 14"/>
          <p:cNvSpPr/>
          <p:nvPr/>
        </p:nvSpPr>
        <p:spPr>
          <a:xfrm>
            <a:off x="841247" y="4379976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306824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Email (Brevo) — lifecycle sequences + 2 newsletters/mo</a:t>
            </a:r>
          </a:p>
        </p:txBody>
      </p:sp>
      <p:sp>
        <p:nvSpPr>
          <p:cNvPr id="17" name="Oval 16"/>
          <p:cNvSpPr/>
          <p:nvPr/>
        </p:nvSpPr>
        <p:spPr>
          <a:xfrm>
            <a:off x="841247" y="4946904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873752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WhatsApp API — confirmations, reminders, broadcasts</a:t>
            </a:r>
          </a:p>
        </p:txBody>
      </p:sp>
      <p:sp>
        <p:nvSpPr>
          <p:cNvPr id="19" name="Oval 18"/>
          <p:cNvSpPr/>
          <p:nvPr/>
        </p:nvSpPr>
        <p:spPr>
          <a:xfrm>
            <a:off x="841247" y="5513832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4406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SEO — 2 blogs/mo on /inspiration + /events</a:t>
            </a:r>
          </a:p>
        </p:txBody>
      </p:sp>
      <p:sp>
        <p:nvSpPr>
          <p:cNvPr id="21" name="Oval 20"/>
          <p:cNvSpPr/>
          <p:nvPr/>
        </p:nvSpPr>
        <p:spPr>
          <a:xfrm>
            <a:off x="841247" y="6080760"/>
            <a:ext cx="82296" cy="82296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00760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Artist share links — every artist recruits clients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25112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25112" y="1828800"/>
            <a:ext cx="3639312" cy="12801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B2777"/>
                </a:solidFill>
                <a:latin typeface="Georgia"/>
              </a:rPr>
              <a:t>PAID — RM 47k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2679192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Meta (IG+FB) RM 24k — bridal/beauty interest stacks, KL-Selangor, 20–40</a:t>
            </a:r>
          </a:p>
        </p:txBody>
      </p:sp>
      <p:sp>
        <p:nvSpPr>
          <p:cNvPr id="28" name="Oval 27"/>
          <p:cNvSpPr/>
          <p:nvPr/>
        </p:nvSpPr>
        <p:spPr>
          <a:xfrm>
            <a:off x="4617720" y="3246120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317296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Google RM 12k — high-intent: “bridal makeup KL”, “MUA near me”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381304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739896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TikTok RM 6k — Spark Ads on creator content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4379976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4306824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Retargeting RM 5k — visitors, waitlist &amp; cart abandoners, RM30 creative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4946904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4873752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Artist-side ads — target working MUAs (“switch from DM chaos”)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01583" y="1828800"/>
            <a:ext cx="3639312" cy="4343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1583" y="1828800"/>
            <a:ext cx="3639312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75904" y="21488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B5CF6"/>
                </a:solidFill>
                <a:latin typeface="Georgia"/>
              </a:rPr>
              <a:t>EARNED + COMMUNITY — RM 43k</a:t>
            </a:r>
          </a:p>
        </p:txBody>
      </p:sp>
      <p:sp>
        <p:nvSpPr>
          <p:cNvPr id="39" name="Oval 38"/>
          <p:cNvSpPr/>
          <p:nvPr/>
        </p:nvSpPr>
        <p:spPr>
          <a:xfrm>
            <a:off x="8394192" y="267919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260604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2 KOL waves — 16–18 micro/mid creators, flat + booking-code commission</a:t>
            </a:r>
          </a:p>
        </p:txBody>
      </p:sp>
      <p:sp>
        <p:nvSpPr>
          <p:cNvPr id="41" name="Oval 40"/>
          <p:cNvSpPr/>
          <p:nvPr/>
        </p:nvSpPr>
        <p:spPr>
          <a:xfrm>
            <a:off x="8394192" y="3246120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77072" y="3172968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1–2 wedding expos + KL launch pop-up (glam bar)</a:t>
            </a:r>
          </a:p>
        </p:txBody>
      </p:sp>
      <p:sp>
        <p:nvSpPr>
          <p:cNvPr id="43" name="Oval 42"/>
          <p:cNvSpPr/>
          <p:nvPr/>
        </p:nvSpPr>
        <p:spPr>
          <a:xfrm>
            <a:off x="8394192" y="3813048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77072" y="3739896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PR — SAYS, The Star, Malay Mail, NST, wedding blogs</a:t>
            </a:r>
          </a:p>
        </p:txBody>
      </p:sp>
      <p:sp>
        <p:nvSpPr>
          <p:cNvPr id="45" name="Oval 44"/>
          <p:cNvSpPr/>
          <p:nvPr/>
        </p:nvSpPr>
        <p:spPr>
          <a:xfrm>
            <a:off x="8394192" y="4379976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77072" y="4306824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Giveaways in bridal FB groups</a:t>
            </a:r>
          </a:p>
        </p:txBody>
      </p:sp>
      <p:sp>
        <p:nvSpPr>
          <p:cNvPr id="47" name="Oval 46"/>
          <p:cNvSpPr/>
          <p:nvPr/>
        </p:nvSpPr>
        <p:spPr>
          <a:xfrm>
            <a:off x="8394192" y="4946904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77072" y="4873752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Campus pop-ups — Cyberjaya (MMU, Limkokwing, UPM area)</a:t>
            </a:r>
          </a:p>
        </p:txBody>
      </p:sp>
      <p:sp>
        <p:nvSpPr>
          <p:cNvPr id="49" name="Oval 48"/>
          <p:cNvSpPr/>
          <p:nvPr/>
        </p:nvSpPr>
        <p:spPr>
          <a:xfrm>
            <a:off x="8394192" y="5513832"/>
            <a:ext cx="82296" cy="8229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7072" y="5440680"/>
            <a:ext cx="2971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F2937"/>
                </a:solidFill>
                <a:latin typeface="Calibri"/>
              </a:rPr>
              <a:t>Free “grow your MUA business” webinar (Nov)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LOCK BEFORE DAY 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Launch Offers &amp; Promotions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CLIENT SIDE (DEMAND)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LEISH30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RM30 off first booking · cap 300 · valid to Day 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1188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72160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Early-bird bonus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69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Waitlist members get RM30 + priority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61772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2744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Refer-a-friend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RM20 credit each · live from Day 30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4864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10312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B5CF6"/>
                </a:solidFill>
                <a:latin typeface="Calibri"/>
              </a:rPr>
              <a:t>ARTIST SIDE (SUPPLY)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260604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7157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Free 3-month Pro listing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632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Normally RM 200–500/mo · cap 50 artists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361188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72160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0% commission, first 10 bookings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40690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vs standard 20% · cap 30 artists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4617720"/>
            <a:ext cx="4846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72744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Artist referral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749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RM100 + featured slot when referee hits 5 bookings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⚠ Pre-launch dev task: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verify promo-code / credit support in admin. If unsupported, use UTM + support-issued credits and log a dev task before Aug 24.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FIRST 12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Content Calendar —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91672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920240"/>
                <a:gridCol w="4873752"/>
                <a:gridCol w="2743200"/>
              </a:tblGrid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Week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Theme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Hero content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Campaign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W1 · Aug 10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Tease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Founder story reel — “Why we built Leish!”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Waitlist open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W2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Artist spotlight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“Meet the artist” carousels ×3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Artist recruitment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W3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Pain-point comedy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“POV: DM-ing 15 MUAs for your wedding date”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Waitlist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W4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Education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Bridal makeup cost guide KL 2026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Waitlist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W5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Beta client before/after + testimonial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Waitlist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W6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Countdown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“Leish! launches Oct 5” series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Launch hype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W7 · Oct 5</a:t>
                      </a:r>
                    </a:p>
                  </a:txBody>
                  <a:tcPr marL="91440" marR="91440" marT="18288" marB="18288" anchor="ctr"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LAUNCH WEEK</a:t>
                      </a:r>
                    </a:p>
                  </a:txBody>
                  <a:tcPr marL="91440" marR="91440" marT="18288" marB="18288" anchor="ctr"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Event content, KOL posts, LEISH30 code</a:t>
                      </a:r>
                    </a:p>
                  </a:txBody>
                  <a:tcPr marL="91440" marR="91440" marT="18288" marB="18288" anchor="ctr">
                    <a:solidFill>
                      <a:srgbClr val="E11D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DAY 0</a:t>
                      </a:r>
                    </a:p>
                  </a:txBody>
                  <a:tcPr marL="91440" marR="91440" marT="18288" marB="18288" anchor="ctr">
                    <a:solidFill>
                      <a:srgbClr val="E11D48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W8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Social proof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UGC roundup + first bookings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Post-launch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W9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Hijab series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Hijab MUA directory + looks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Community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W10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Wedding season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“Book your wedding MUA now” urgency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Paid push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W11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Referrals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Refer-a-friend launch creative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Referral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3235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W12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Festive prep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CNY / Raya early-bird booking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Festive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Evergreen SEO (2/mo):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“Best Bridal Makeup Artists in KL &amp; Selangor 2026” · “How Much Does Bridal Makeup Cost in Malaysia?” · “Hijab Makeup Looks for Weddings” · “10 Questions to Ask Your MUA”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WATCH WEEKLY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Risks &amp; Mitigations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9167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640080"/>
                <a:gridCol w="640080"/>
                <a:gridCol w="6793992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L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91440" marR="91440" marT="18288" marB="18288" anchor="ctr">
                    <a:solidFill>
                      <a:srgbClr val="1F293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Not enough artists at launch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Concierge recruitment from T-6; 30-artist gate — delay Day 0 if short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Demand lags supply (artists churn)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Weekly zero-booking check; demand ads + featured rotation; commission-free period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Checkout friction (Billplz)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Track booking_started→completed; A/B deposit vs full payment; WhatsApp assist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KOL underperformance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60/40 flat + booking commission; test 4 in wave 1 before wave-2 spend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Promo abuse (RM30 codes)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Med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One code per account; cap 300; fraud flag on repeat emails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SEO ramp too slow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Content engine from Day 1; treat SEO as 6-month play; rely on paid + social at launch</a:t>
                      </a:r>
                    </a:p>
                  </a:txBody>
                  <a:tcPr marL="91440" marR="91440" marT="18288" marB="18288" anchor="ctr">
                    <a:solidFill>
                      <a:srgbClr val="FBF7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2937"/>
                          </a:solidFill>
                          <a:latin typeface="Calibri"/>
                        </a:rPr>
                        <a:t>Traffic spike / infra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F2937"/>
                          </a:solidFill>
                          <a:latin typeface="Calibri"/>
                        </a:rPr>
                        <a:t>Launch-ready ✅; load-test /artists + /bookings; UPSTASH Redis in prod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Guardrails: </a:t>
            </a:r>
            <a:r>
              <a:rPr sz="1200" b="0" i="0">
                <a:solidFill>
                  <a:srgbClr val="6B7280"/>
                </a:solidFill>
                <a:latin typeface="Calibri"/>
              </a:rPr>
              <a:t>artists idle 14+ days · no-show/cancellation &lt;15% · artist response &lt;4 hrs · search→booking ≥2%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30-DAY LAUNCH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Owner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11095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92807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Confirm launch date + sign-off 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5973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44144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Hire/assign marketing lead + content creator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2608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0837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99008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Waitlist page live + RM30 offer configured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5701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5387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GA4 + Meta events verified (10 events)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0565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Aug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08736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Brevo sequences + UTM scheme live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7200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5429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63600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Media kit + press release drafted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20293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18464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KOL wave 1 contracted (8–12)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182880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0" y="1911095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1892807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Launch pop-up venue + invite list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37744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45973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4414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30 anchor artists recruited (gate!)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292608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00837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Sep 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99008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Paid campaigns live (test) → full Oct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347472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355701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Oct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353872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DAY 0 — official launch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402336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410565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Nov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40873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Referral live · wedding expo booked · Day-30 review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35040" y="457200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465429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Dec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63600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Leish+ pilot to top clients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35040" y="5120640"/>
            <a:ext cx="1371600" cy="475488"/>
          </a:xfrm>
          <a:prstGeom prst="roundRect">
            <a:avLst>
              <a:gd name="adj" fmla="val 25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5202936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Jan 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518464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2937"/>
                </a:solidFill>
                <a:latin typeface="Calibri"/>
              </a:rPr>
              <a:t>Day-90 review + Q1'27 plan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CLOSE BY AUG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Open Questions for the Founder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11095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Confirm launch 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39696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Oct 5, 2026 proposed — first Monday after Hari Malaysia week, peak wedding season.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87168"/>
            <a:ext cx="566928" cy="566928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6946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505456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Budget sign-off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798063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RM 96,000 / 90 days, drawn from seed runway per financial forecast.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45535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1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63823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Promo-code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456431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Does admin support codes/credits, or is a dev task needed before Aug 24?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03903"/>
            <a:ext cx="566928" cy="566928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199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822191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Marketing owner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114799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In-house hire vs agency vs founder-led with this plan as the ops doc — #1 dependency.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462271"/>
            <a:ext cx="566928" cy="566928"/>
          </a:xfrm>
          <a:prstGeom prst="ellipse">
            <a:avLst/>
          </a:prstGeom>
          <a:solidFill>
            <a:srgbClr val="0E94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544567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80559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Brand assets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773167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IG/TikTok/FB handles (@leish.my?), logo kit, press photos.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120639"/>
            <a:ext cx="566928" cy="5669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202935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38927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Leish+ timing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43153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Keep RM29/mo pilot internal for 90 days; public in Q1'27 (recommended).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5779007"/>
            <a:ext cx="566928" cy="566928"/>
          </a:xfrm>
          <a:prstGeom prst="ellipse">
            <a:avLst/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861303"/>
            <a:ext cx="56692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97295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2937"/>
                </a:solidFill>
                <a:latin typeface="Calibri"/>
              </a:rPr>
              <a:t>Legal &amp; compliance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6089903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B7280"/>
                </a:solidFill>
                <a:latin typeface="Calibri"/>
              </a:rPr>
              <a:t>PDPA consent on waitlist capture + contest T&amp;Cs before any giveaway.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11D48"/>
                </a:solidFill>
                <a:latin typeface="Calibri"/>
              </a:rPr>
              <a:t>WEEKLY DASHBOARD, EVERY MONDAY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2937"/>
                </a:solidFill>
                <a:latin typeface="Georgia"/>
              </a:rPr>
              <a:t>Measurement &amp;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463040" cy="4114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Calibri"/>
              </a:rPr>
              <a:t>EVENTS TO VERIFY (GA4 + META)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waitlist_signup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83006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7520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sign_up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090672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search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351276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9641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view_artist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611880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57016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booking_started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872484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176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booking_completed (value = booking value)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133088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payment_success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393692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3882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artist_application_started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654296"/>
            <a:ext cx="73152" cy="73152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5994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F2937"/>
                </a:solidFill>
                <a:latin typeface="Consolas"/>
              </a:rPr>
              <a:t>share_link_clicked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1828800"/>
            <a:ext cx="5440680" cy="301752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1031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B5CF6"/>
                </a:solidFill>
                <a:latin typeface="Calibri"/>
              </a:rPr>
              <a:t>WEEKLY DASHBOARD SECTIONS</a:t>
            </a:r>
          </a:p>
        </p:txBody>
      </p:sp>
      <p:sp>
        <p:nvSpPr>
          <p:cNvPr id="28" name="Oval 27"/>
          <p:cNvSpPr/>
          <p:nvPr/>
        </p:nvSpPr>
        <p:spPr>
          <a:xfrm>
            <a:off x="6537960" y="2569464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51460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Growth — waitlist, signups, artists, bookings, GMV, commission</a:t>
            </a:r>
          </a:p>
        </p:txBody>
      </p:sp>
      <p:sp>
        <p:nvSpPr>
          <p:cNvPr id="30" name="Oval 29"/>
          <p:cNvSpPr/>
          <p:nvPr/>
        </p:nvSpPr>
        <p:spPr>
          <a:xfrm>
            <a:off x="6537960" y="3044952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2990088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Funnel — search → artist view → booking_start → complete</a:t>
            </a:r>
          </a:p>
        </p:txBody>
      </p:sp>
      <p:sp>
        <p:nvSpPr>
          <p:cNvPr id="32" name="Oval 31"/>
          <p:cNvSpPr/>
          <p:nvPr/>
        </p:nvSpPr>
        <p:spPr>
          <a:xfrm>
            <a:off x="6537960" y="3520440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465576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Paid — spend, ROAS, CAC, CPM/CPC by channel</a:t>
            </a:r>
          </a:p>
        </p:txBody>
      </p:sp>
      <p:sp>
        <p:nvSpPr>
          <p:cNvPr id="34" name="Oval 33"/>
          <p:cNvSpPr/>
          <p:nvPr/>
        </p:nvSpPr>
        <p:spPr>
          <a:xfrm>
            <a:off x="6537960" y="3995928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941064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Quality — no-show, cancellation, avg rating, repeat rate</a:t>
            </a:r>
          </a:p>
        </p:txBody>
      </p:sp>
      <p:sp>
        <p:nvSpPr>
          <p:cNvPr id="36" name="Oval 35"/>
          <p:cNvSpPr/>
          <p:nvPr/>
        </p:nvSpPr>
        <p:spPr>
          <a:xfrm>
            <a:off x="6537960" y="4471416"/>
            <a:ext cx="73152" cy="731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416552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F2937"/>
                </a:solidFill>
                <a:latin typeface="Calibri"/>
              </a:rPr>
              <a:t>Content — email list, opens/clicks, reach, top posts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1206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7280"/>
                </a:solidFill>
                <a:latin typeface="Calibri"/>
              </a:rPr>
              <a:t>ATTRIBUTION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280"/>
                </a:solidFill>
                <a:latin typeface="Calibri"/>
              </a:rPr>
              <a:t>UTM on every outbound link — source / medium / campaign / term / content (scheme in plan Appendix C). Capture source at signup. Report: bookings &amp; CAC by channel.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6126480"/>
            <a:ext cx="11064240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148085908000" cy="12801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1148085908000" cy="12801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554480"/>
            <a:ext cx="3931920" cy="393192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754880"/>
            <a:ext cx="3566160" cy="35661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Ready to glow.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CA3AF"/>
                </a:solidFill>
                <a:latin typeface="Calibri"/>
              </a:rPr>
              <a:t>Full plan: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docs/launch-marketing-plan.md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   ·   Summary: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docs/launch-marketing-plan-summary.md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11D48"/>
                </a:solidFill>
                <a:latin typeface="Calibri"/>
              </a:rPr>
              <a:t>Next step: </a:t>
            </a:r>
            <a:r>
              <a:rPr sz="1400" b="0" i="0">
                <a:solidFill>
                  <a:srgbClr val="9CA3AF"/>
                </a:solidFill>
                <a:latin typeface="Calibri"/>
              </a:rPr>
              <a:t>close the 7 blockers by Aug 10, then execute the 30-day checklist.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CA3AF"/>
                </a:solidFill>
                <a:latin typeface="Calibri"/>
              </a:rPr>
              <a:t>#BookBeautyAnywhere  ·  #NeverDMForADate  ·  Your Beauty, Perfected.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Leish! Launch Marketing Plan</dc:title>
  <dc:subject>90-day go-to-market plan — Oct 5, 2026</dc:subject>
  <dc:creator>Leish! (leish.my)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