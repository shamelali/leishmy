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E21B6A"/>
                </a:solidFill>
                <a:latin typeface="Calibri"/>
              </a:rPr>
              <a:t>Leish.my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libri"/>
              </a:rPr>
              <a:t>Business Model &amp; Growth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9EC7"/>
                </a:solidFill>
                <a:latin typeface="Calibri"/>
              </a:rPr>
              <a:t>A Beauty Booking Marketplace Connecting Clients with MUAs &amp; Studios in KL &amp; Selangor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B"/>
                </a:solidFill>
                <a:latin typeface="Calibri"/>
              </a:rPr>
              <a:t>Seed Round Materials  |  August 2026  |  All figures in Malaysian Ringgit (RM)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5556B"/>
                </a:solidFill>
                <a:latin typeface="Calibri"/>
              </a:rPr>
              <a:t>A commission-based marketplace for professional beauty services in Kuala Lumpur &amp; Selangor.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20% commission on each client booking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Connecting clients with professional makeup artists (MUAs) &amp; studios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Seed-stage, launched in KL &amp; Selangor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Community-driven, Malaysian-first specialization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• Structured, trustworthy booking 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463040"/>
            <a:ext cx="5029200" cy="475488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459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1B6A"/>
                </a:solidFill>
                <a:latin typeface="Calibri"/>
              </a:rPr>
              <a:t>Current Traction (Aug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194560"/>
            <a:ext cx="4297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Registered Clients:  88+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Total Bookings:  104+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Pro Artists:  4+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Beauty Categories:  8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Avg Booking Value:  RM 250–350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Platform Commission:  20%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Business Model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Marketplace model: Leish connects beauty clients with vetted professional MUAs and studios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Revenue is generated per booking via a platform commission (take rate)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High gross margin (80%+) — asset-light, no inventory, no salons owned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Grow the supply side (artists/studios) to attract demand (clients), and vice versa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Product: 3 dashboards (Admin, Artist, Studio) to manage bookings, payments, and operations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Trust layer: verification, escrow payments, reviews, and structured booking flow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Payments powered by Billplz (Malaysian gateway) with secure payout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Revenue Streams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937760"/>
                <a:gridCol w="3017520"/>
              </a:tblGrid>
              <a:tr h="64008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Revenue Stream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Rate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Booking Commission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20% of each client booking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20%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Studio Rental Commission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Studio session fees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Premium Artist Listing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Featured 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RM 200–500/mo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Loyalty Program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Subscription — repeat clients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RM 49–99/mo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B2B Corporate Packages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Bulk bookings /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15–20%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6B"/>
                </a:solidFill>
                <a:latin typeface="Calibri"/>
              </a:rPr>
              <a:t>Anchor model: Booking Commission (20%). Diversifying into 5 streams to reduce reliance on a single revenue source.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Revenue Mix (Target)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B"/>
                </a:solidFill>
                <a:latin typeface="Calibri"/>
              </a:rPr>
              <a:t>Booking commission remains the anchor; premium listings, loyalty, and B2B grow as the ecosystem scales.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66160" cy="393192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1B6A"/>
                </a:solidFill>
                <a:latin typeface="Calibri"/>
              </a:rPr>
              <a:t>Year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51760"/>
            <a:ext cx="137160" cy="2720340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3017520" cy="2720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Booking Commission  85%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481828"/>
            <a:ext cx="137160" cy="320040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4818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Studio Rental  10%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911596"/>
            <a:ext cx="137160" cy="9601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911596"/>
            <a:ext cx="3017520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Premium Listings  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117336"/>
            <a:ext cx="137160" cy="6400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6117336"/>
            <a:ext cx="301752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B2B Corporate  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828800"/>
            <a:ext cx="3566160" cy="393192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1B6A"/>
                </a:solidFill>
                <a:latin typeface="Calibri"/>
              </a:rPr>
              <a:t>Year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2651760"/>
            <a:ext cx="137160" cy="2400300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651760"/>
            <a:ext cx="3017520" cy="2400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Booking Commission  75%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5161788"/>
            <a:ext cx="137160" cy="38404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516178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Studio Rental  12%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5655564"/>
            <a:ext cx="137160" cy="25603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565556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Premium Listings  8%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6021324"/>
            <a:ext cx="137160" cy="9601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6021324"/>
            <a:ext cx="3017520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Loyalty  3%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6227064"/>
            <a:ext cx="137160" cy="6400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6227064"/>
            <a:ext cx="3017520" cy="64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B2B  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828800"/>
            <a:ext cx="3566160" cy="393192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1B6A"/>
                </a:solidFill>
                <a:latin typeface="Calibri"/>
              </a:rPr>
              <a:t>Year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651760"/>
            <a:ext cx="137160" cy="2080260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2651760"/>
            <a:ext cx="3017520" cy="2080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Booking Commission  65%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4841748"/>
            <a:ext cx="137160" cy="41605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4841748"/>
            <a:ext cx="301752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Studio Rental  13%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5367528"/>
            <a:ext cx="137160" cy="38404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536752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Premium Listings  12%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5861304"/>
            <a:ext cx="137160" cy="22402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5861304"/>
            <a:ext cx="3017520" cy="224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Loyalty  7%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6195060"/>
            <a:ext cx="137160" cy="9601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2520" y="6195060"/>
            <a:ext cx="3017520" cy="96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B2B  3%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1B6A"/>
                </a:solidFill>
                <a:latin typeface="Calibri"/>
              </a:rPr>
              <a:t>Market Size (KL &amp; Selangor)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2651760" cy="155448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21B6A"/>
                </a:solidFill>
                <a:latin typeface="Calibri"/>
              </a:rPr>
              <a:t>RM 3.7B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6B"/>
                </a:solidFill>
                <a:latin typeface="Calibri"/>
              </a:rPr>
              <a:t>Malaysia Beauty &amp; Personal Care Market (2026)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651760" cy="155448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828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21B6A"/>
                </a:solidFill>
                <a:latin typeface="Calibri"/>
              </a:rPr>
              <a:t>RM 450M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6B"/>
                </a:solidFill>
                <a:latin typeface="Calibri"/>
              </a:rPr>
              <a:t>Online Beauty Services — Malaysia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2651760" cy="155448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21B6A"/>
                </a:solidFill>
                <a:latin typeface="Calibri"/>
              </a:rPr>
              <a:t>RM 180M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6B"/>
                </a:solidFill>
                <a:latin typeface="Calibri"/>
              </a:rPr>
              <a:t>KL &amp; Selangor Serviceable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89720" y="1645920"/>
            <a:ext cx="2651760" cy="155448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18288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21B6A"/>
                </a:solidFill>
                <a:latin typeface="Calibri"/>
              </a:rPr>
              <a:t>RM 18M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6517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6B"/>
                </a:solidFill>
                <a:latin typeface="Calibri"/>
              </a:rPr>
              <a:t>Leish Addressable Market (Year 3, 10%)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1B6A"/>
                </a:solidFill>
                <a:latin typeface="Calibri"/>
              </a:rPr>
              <a:t>Market Drivers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233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Rising disposable income in KL/SEL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On-demand beauty service preference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Social-media-driven beauty awareness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Beauty market growing ~8% CAGR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Demand for affordable professional beauty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1B6A"/>
                </a:solidFill>
                <a:latin typeface="Calibri"/>
              </a:rPr>
              <a:t>Competitive Landscape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2336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Booksy: global, limited MY presence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Fresha: salon software, POS + booking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Local salons: fragmented, no platform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• Leish: MUA/beauty specialist, Malaysian-first, community-driven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Key Growth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64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Users: 1,500 (Y1) → 6,000 (Y2) → 18,000 (Y3)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Bookings per active user: 3.0 → 5.0 → 7.0 per year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Avg booking value: RM 280 → 320 → 350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Platform take rate: holds at 20%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Repeat booking rate: 30% → 45% → 55%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Active artists: 20 → 60 → 150   |   Active studios: 5 → 15 → 35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1A2E"/>
                </a:solidFill>
                <a:latin typeface="Calibri"/>
              </a:rPr>
              <a:t>• Active user share: 35% → 50% → 60% of total users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Revenue Forecast (3-Year)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/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Year 1 (FY26)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Year 2 (FY27)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Year 3 (FY28)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Total Bookings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7,779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71,500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260,000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GMV (RM)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2.18M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22.88M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86.85M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Commission (20%)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436K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2.24M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7.35M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Total Revenue (RM)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762K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4.32M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16.68M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Revenue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+467%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+286%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6B"/>
                </a:solidFill>
                <a:latin typeface="Calibri"/>
              </a:rPr>
              <a:t>Story: Year 1 is investment-heavy as the marketplace builds supply &amp; demand. Explosive scaling in Year 2–3 as network effects take hold, driving revenue from RM 762K to RM 16.7M.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Cost Structure &amp; P&amp;L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1B6A"/>
                </a:solidFill>
                <a:latin typeface="Calibri"/>
              </a:rPr>
              <a:t>Annual Costs (RM)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53949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188720"/>
                <a:gridCol w="1188720"/>
              </a:tblGrid>
              <a:tr h="475488">
                <a:tc>
                  <a:txBody>
                    <a:bodyPr/>
                    <a:lstStyle/>
                    <a:p/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Year 1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Fixed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660K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846K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1,116K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Variable Costs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462K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900K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1,488K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Total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1,122K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1,746K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2,604K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Cost / Booking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RM 144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RM 50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</a:rPr>
                        <a:t>RM 25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05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1B6A"/>
                </a:solidFill>
                <a:latin typeface="Calibri"/>
              </a:rPr>
              <a:t>Profitability (RM)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Year 1 EBITDA:  (414K)  — investing to build the platform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Year 2 EBITDA:  2,297K  (+53% margin)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Year 3 EBITDA:  13,205K  (+79% margin)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Year 1 Net:  (414K)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Year 2 Net:  1,907K  (44% margin)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Year 3 Net:  10,960K  (66% margin)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Gross Margin:  93% → 94% → 95%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Funding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00" cy="438912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1B6A"/>
                </a:solidFill>
                <a:latin typeface="Calibri"/>
              </a:rPr>
              <a:t>Seed Round Ask: RM 1.2M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Product Development:  RM 480K  (40%)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Marketing &amp; Acquisition:  RM 360K  (30%)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Team:  RM 240K  (20%)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Operations &amp; Legal:  RM 120K  (10%)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Runway:  18 months (with ramping revenue)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88720"/>
            <a:ext cx="5212080" cy="438912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21B6A"/>
                </a:solidFill>
                <a:latin typeface="Calibri"/>
              </a:rPr>
              <a:t>Funding Milestones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Seed Round:  Aug 2026 — RM 1.2M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Series A:  Dec 2027 (Month 18) — RM 5–8M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Series B:  Mid 2029 (Month 30) — RM 20–30M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3-Year ROI on seed:  14x (base case)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A1A2E"/>
                </a:solidFill>
                <a:latin typeface="Calibri"/>
              </a:rPr>
              <a:t>Break-even:  Month 18 (base case)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5556B"/>
                </a:solidFill>
                <a:latin typeface="Calibri"/>
              </a:rPr>
              <a:t>Healthy, scaling economics — strong LTV:CAC throughout.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2011680"/>
                <a:gridCol w="2011680"/>
                <a:gridCol w="2011680"/>
              </a:tblGrid>
              <a:tr h="5181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Year 1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CAC (RM)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90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ARPU (RM)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508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721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927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LTV (RM)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1,524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2,163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2,781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LTV:CAC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8.5x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18.0x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30.9x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Payback (months)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0.9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6B"/>
                </a:solidFill>
                <a:latin typeface="Calibri"/>
              </a:rPr>
              <a:t>Benchmarks beat healthy thresholds from Day 1 (LTV:CAC &gt; 8x vs 3x benchmark; payback &lt; 12 months). Gross margin per booking: RM 224 → 256 → 280.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Break-even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Fixed costs (mo, Y1):  RM 55,000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Contribution / booking:  RM 112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Break-even bookings/mo:  491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Break-even revenue/mo:  RM 137,480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Break-even month:  Month 18 (base)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A1A2E"/>
                </a:solidFill>
                <a:latin typeface="Calibri"/>
              </a:rPr>
              <a:t>Optimistic:  Month 14  |  Conservative:  Month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188720"/>
            <a:ext cx="5212080" cy="402336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3716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21B6A"/>
                </a:solidFill>
                <a:latin typeface="Calibri"/>
              </a:rPr>
              <a:t>Path to Profitability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Month 6:  510 bookings — burning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Month 12:  1,320 bookings — near break-even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Month 15:  2,200 bookings — profitable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Month 18:  3,500 bookings — RM 280K rev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2E"/>
                </a:solidFill>
                <a:latin typeface="Calibri"/>
              </a:rPr>
              <a:t>Month 24:  5,500 bookings — RM 462K rev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Key Metrics &amp; KPIs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1920240"/>
              </a:tblGrid>
              <a:tr h="496388">
                <a:tc>
                  <a:txBody>
                    <a:bodyPr/>
                    <a:lstStyle/>
                    <a:p/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Year 1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Year 2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Year 3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Cumulative 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1,500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3x YoY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Total Bookings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7,779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71,500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260,000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4–5x YoY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Revenue (RM)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762K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4.32M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16.68M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5–7x YoY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Repeat Booking Rate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30%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45%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55%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Growing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NPS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70+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Net Revenue Retention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110%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125%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140%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A1A2E"/>
                          </a:solidFill>
                        </a:rPr>
                        <a:t>&gt;100%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5556B"/>
                </a:solidFill>
                <a:latin typeface="Calibri"/>
              </a:rPr>
              <a:t>Revenue per employee: RM 152K → 865K → 1.39M. Magic number improves 0.67 → 6.40, signaling efficient growth spend.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Scenario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286000"/>
                <a:gridCol w="2286000"/>
                <a:gridCol w="2286000"/>
              </a:tblGrid>
              <a:tr h="470262">
                <a:tc>
                  <a:txBody>
                    <a:bodyPr/>
                    <a:lstStyle/>
                    <a:p/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Conservative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Base Case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Optimistic</a:t>
                      </a:r>
                    </a:p>
                  </a:txBody>
                  <a:tcPr>
                    <a:solidFill>
                      <a:srgbClr val="E21B6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Year 1 Revenue (RM)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400K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762K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1.5M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Year 2 Revenue (RM)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1.2M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4.32M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8.0M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Year 3 Revenue (RM)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3.0M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16.68M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35.0M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Break-even Month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Seed Runway (mo)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24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3-Year ROI (on seed)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2.5x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14x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</a:rPr>
                        <a:t>30x</a:t>
                      </a:r>
                    </a:p>
                  </a:txBody>
                  <a:tcPr>
                    <a:solidFill>
                      <a:srgbClr val="F7F4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029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5556B"/>
                </a:solidFill>
                <a:latin typeface="Calibri"/>
              </a:rPr>
              <a:t>Even in the conservative case, the business reaches profitability by Month 24 and returns 2.5x on the seed. Base case is the primary plan.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Risks &amp;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097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Prob/Impact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Slow user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288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B"/>
                </a:solidFill>
                <a:latin typeface="Calibri"/>
              </a:rPr>
              <a:t>Medium/High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Diversify channels; partnerships with beauty schools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68880"/>
            <a:ext cx="11064240" cy="64008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Artist churn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B"/>
                </a:solidFill>
                <a:latin typeface="Calibri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5603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Tiered commission; loyalty bonuses; development programs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Global competition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B"/>
                </a:solidFill>
                <a:latin typeface="Calibri"/>
              </a:rPr>
              <a:t>High/Medium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29184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Local expertise, community, specialist MUA focus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11064240" cy="64008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Payment fraud / disputes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0233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B"/>
                </a:solidFill>
                <a:latin typeface="Calibri"/>
              </a:rPr>
              <a:t>Low/High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0233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Escrow payments; verification; insurance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Economic downturn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7548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B"/>
                </a:solidFill>
                <a:latin typeface="Calibri"/>
              </a:rPr>
              <a:t>Medium/High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75488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Affordable-luxury positioning; B2B packages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94960"/>
            <a:ext cx="11064240" cy="640080"/>
          </a:xfrm>
          <a:prstGeom prst="rect">
            <a:avLst/>
          </a:prstGeom>
          <a:solidFill>
            <a:srgbClr val="F7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864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Regulatory / PDPA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486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6B"/>
                </a:solidFill>
                <a:latin typeface="Calibri"/>
              </a:rP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4864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Legal budget; compliance; terms of service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2E"/>
                </a:solidFill>
                <a:latin typeface="Calibri"/>
              </a:rPr>
              <a:t>Milestones &amp;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645920" cy="56692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Q3 FY26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280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Platform launch (Next.js migration complete)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65376"/>
            <a:ext cx="1645920" cy="56692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7510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Q4 FY26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5681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500+ users, 1,000+ bookings (RM 85K)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42032"/>
            <a:ext cx="1645920" cy="56692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Q1 FY27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63347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1,000+ users, first B2B partnership (RM 520K)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18688"/>
            <a:ext cx="1645920" cy="56692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284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Q2 FY27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31012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3,000+ users, studio integration live (RM 1.08M)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95344"/>
            <a:ext cx="1645920" cy="56692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050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Q3 FY27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986784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Break-even achieved — positive EBITDA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1645920" cy="56692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6817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Q4 FY27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663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6,000+ users, Series A ready (RM 4.3M)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48656"/>
            <a:ext cx="1645920" cy="56692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583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Q1 FY28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340096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10,000+ users, loyalty program launch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925312"/>
            <a:ext cx="1645920" cy="566928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Q4 FY28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60167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18,000+ users, Series B ready (RM 16.7M)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1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Leish.my — The Malaysian-first beauty booking marketplace  |  leish.my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9EC7"/>
                </a:solidFill>
                <a:latin typeface="Calibri"/>
              </a:rPr>
              <a:t>Let's build the future of beauty services in Malaysia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